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Public Sans" pitchFamily="34" charset="0"/>
      <p:regular r:id="rId19"/>
      <p:bold r:id="rId20"/>
    </p:embeddedFont>
    <p:embeddedFont>
      <p:font typeface="Archivo"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NYC Transit Hub is a web app that puts the four things a subway rider checks into one place: is my line running, when is the next train, is the elevator working, and tell me if something changes. It is built and runs today on sample data, and switches to live MTA feeds when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answers exists in MTA data today, but a rider has to stitch them together. For riders who use a wheelchair, a stroller or luggage, the elevator question decides whether the trip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features from the brief, all implemented in the prototype. The next slides show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puts problem lines first. Alert text marks routes as bracketed letters, like [A], which the app renders as line bullets. The screenshot is the prototype running on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station like Times Sq is several GTFS stops, one per line group. The app merges them into one panel and requests each group's feed, so the 1/2/3, 7 and N/Q/R/W arrivals appear together. In the offline demo the map is a schematic drawn from the same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outage feed needs no API key. The roadmap adds a trip planner that routes around stations with an elevator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defaults to the browser's setting. Adding a language is one block of strings in i18n.js.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flow: the browser calls /api/status, /api/arrivals or /api/accessibility. The server fetches the matching MTA feed if its cache is older than 30 seconds, decodes it with gtfs-realtime-bindings, reshapes it with pure functions in transform.js, and returns JSON. Accounts never touch the server: the browser talks to Firebase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Subway feeds are grouped by line division: 1-7 and shuttle, ACE, BDFM, G, JZ, L, NQRW and the Staten Island Railway. Bus keys are free from register.developer.obanyc.com. MTA logos and route symbols need a separate license before a public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test runs the parser tests with Node's built-in test runner. npm run sample starts the whole app on sample data, which is how the screenshots in this deck were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alerts while the app is closed need a scheduled Cloud Function that diffs line status and sends Firebase Cloud Messages. The step-free planner routes around stations whose elevators are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zip includes a README with Firebase setup, the API reference and the full list of MTA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3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99530"/>
            <a:ext cx="10566400" cy="877788"/>
          </a:xfrm>
          <a:prstGeom prst="rect">
            <a:avLst/>
          </a:prstGeom>
          <a:noFill/>
          <a:ln/>
        </p:spPr>
        <p:txBody>
          <a:bodyPr wrap="square" lIns="0" tIns="0" rIns="0" bIns="0" rtlCol="0" anchor="t"/>
          <a:lstStyle>
            <a:lvl1pPr algn="l" indent="0" marL="0">
              <a:lnSpc>
                <a:spcPct val="115000"/>
              </a:lnSpc>
              <a:buNone/>
              <a:defRPr lang="en-US" sz="3600" dirty="0">
                <a:solidFill>
                  <a:srgbClr val="121316"/>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582118"/>
            <a:ext cx="10566400" cy="3463082"/>
          </a:xfrm>
          <a:prstGeom prst="rect">
            <a:avLst/>
          </a:prstGeom>
          <a:noFill/>
          <a:ln/>
        </p:spPr>
        <p:txBody>
          <a:bodyPr wrap="square" lIns="0" tIns="0" rIns="0" bIns="0" rtlCol="0" anchor="t"/>
          <a:lstStyle>
            <a:lvl1pPr algn="l" indent="0" marL="0">
              <a:lnSpc>
                <a:spcPct val="140000"/>
              </a:lnSpc>
              <a:buNone/>
              <a:defRPr lang="en-US" sz="1600" dirty="0">
                <a:solidFill>
                  <a:srgbClr val="121316"/>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3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99530"/>
            <a:ext cx="10566400" cy="877788"/>
          </a:xfrm>
          <a:prstGeom prst="rect">
            <a:avLst/>
          </a:prstGeom>
          <a:noFill/>
          <a:ln/>
        </p:spPr>
        <p:txBody>
          <a:bodyPr wrap="square" lIns="0" tIns="0" rIns="0" bIns="0" rtlCol="0" anchor="t"/>
          <a:lstStyle>
            <a:lvl1pPr algn="l" indent="0" marL="0">
              <a:lnSpc>
                <a:spcPct val="115000"/>
              </a:lnSpc>
              <a:buNone/>
              <a:defRPr lang="en-US" sz="3600" dirty="0">
                <a:solidFill>
                  <a:srgbClr val="121316"/>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582118"/>
            <a:ext cx="10566400" cy="3463082"/>
          </a:xfrm>
          <a:prstGeom prst="rect">
            <a:avLst/>
          </a:prstGeom>
          <a:noFill/>
          <a:ln/>
        </p:spPr>
        <p:txBody>
          <a:bodyPr wrap="square" lIns="0" tIns="0" rIns="0" bIns="0" rtlCol="0" anchor="t"/>
          <a:lstStyle>
            <a:lvl1pPr algn="l" indent="0" marL="0">
              <a:lnSpc>
                <a:spcPct val="140000"/>
              </a:lnSpc>
              <a:buNone/>
              <a:defRPr lang="en-US" sz="1600" dirty="0">
                <a:solidFill>
                  <a:srgbClr val="121316"/>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6"/>
        </a:solidFill>
      </p:bgPr>
    </p:bg>
    <p:spTree>
      <p:nvGrpSpPr>
        <p:cNvPr id="1" name=""/>
        <p:cNvGrpSpPr/>
        <p:nvPr/>
      </p:nvGrpSpPr>
      <p:grpSpPr>
        <a:xfrm>
          <a:off x="0" y="0"/>
          <a:ext cx="0" cy="0"/>
          <a:chOff x="0" y="0"/>
          <a:chExt cx="0" cy="0"/>
        </a:xfrm>
      </p:grpSpPr>
      <p:sp>
        <p:nvSpPr>
          <p:cNvPr id="2" name="Shape 0"/>
          <p:cNvSpPr/>
          <p:nvPr/>
        </p:nvSpPr>
        <p:spPr>
          <a:xfrm>
            <a:off x="0" y="0"/>
            <a:ext cx="1354634" cy="101600"/>
          </a:xfrm>
          <a:prstGeom prst="rect">
            <a:avLst/>
          </a:prstGeom>
          <a:solidFill>
            <a:srgbClr val="EE352E"/>
          </a:solidFill>
          <a:ln/>
        </p:spPr>
      </p:sp>
      <p:sp>
        <p:nvSpPr>
          <p:cNvPr id="3" name="Shape 1"/>
          <p:cNvSpPr/>
          <p:nvPr/>
        </p:nvSpPr>
        <p:spPr>
          <a:xfrm>
            <a:off x="1354634" y="0"/>
            <a:ext cx="1354683" cy="101600"/>
          </a:xfrm>
          <a:prstGeom prst="rect">
            <a:avLst/>
          </a:prstGeom>
          <a:solidFill>
            <a:srgbClr val="00933C"/>
          </a:solidFill>
          <a:ln/>
        </p:spPr>
      </p:sp>
      <p:sp>
        <p:nvSpPr>
          <p:cNvPr id="4" name="Shape 2"/>
          <p:cNvSpPr/>
          <p:nvPr/>
        </p:nvSpPr>
        <p:spPr>
          <a:xfrm>
            <a:off x="2709317" y="0"/>
            <a:ext cx="1354634" cy="101600"/>
          </a:xfrm>
          <a:prstGeom prst="rect">
            <a:avLst/>
          </a:prstGeom>
          <a:solidFill>
            <a:srgbClr val="B933AD"/>
          </a:solidFill>
          <a:ln/>
        </p:spPr>
      </p:sp>
      <p:sp>
        <p:nvSpPr>
          <p:cNvPr id="5" name="Shape 3"/>
          <p:cNvSpPr/>
          <p:nvPr/>
        </p:nvSpPr>
        <p:spPr>
          <a:xfrm>
            <a:off x="4063950" y="0"/>
            <a:ext cx="1354683" cy="101600"/>
          </a:xfrm>
          <a:prstGeom prst="rect">
            <a:avLst/>
          </a:prstGeom>
          <a:solidFill>
            <a:srgbClr val="0039A6"/>
          </a:solidFill>
          <a:ln/>
        </p:spPr>
      </p:sp>
      <p:sp>
        <p:nvSpPr>
          <p:cNvPr id="6" name="Shape 4"/>
          <p:cNvSpPr/>
          <p:nvPr/>
        </p:nvSpPr>
        <p:spPr>
          <a:xfrm>
            <a:off x="5418634" y="0"/>
            <a:ext cx="1354634" cy="101600"/>
          </a:xfrm>
          <a:prstGeom prst="rect">
            <a:avLst/>
          </a:prstGeom>
          <a:solidFill>
            <a:srgbClr val="FF6319"/>
          </a:solidFill>
          <a:ln/>
        </p:spPr>
      </p:sp>
      <p:sp>
        <p:nvSpPr>
          <p:cNvPr id="7" name="Shape 5"/>
          <p:cNvSpPr/>
          <p:nvPr/>
        </p:nvSpPr>
        <p:spPr>
          <a:xfrm>
            <a:off x="6773267" y="0"/>
            <a:ext cx="1354683" cy="101600"/>
          </a:xfrm>
          <a:prstGeom prst="rect">
            <a:avLst/>
          </a:prstGeom>
          <a:solidFill>
            <a:srgbClr val="6CBE45"/>
          </a:solidFill>
          <a:ln/>
        </p:spPr>
      </p:sp>
      <p:sp>
        <p:nvSpPr>
          <p:cNvPr id="8" name="Shape 6"/>
          <p:cNvSpPr/>
          <p:nvPr/>
        </p:nvSpPr>
        <p:spPr>
          <a:xfrm>
            <a:off x="8127950" y="0"/>
            <a:ext cx="1354683" cy="101600"/>
          </a:xfrm>
          <a:prstGeom prst="rect">
            <a:avLst/>
          </a:prstGeom>
          <a:solidFill>
            <a:srgbClr val="996633"/>
          </a:solidFill>
          <a:ln/>
        </p:spPr>
      </p:sp>
      <p:sp>
        <p:nvSpPr>
          <p:cNvPr id="9" name="Shape 7"/>
          <p:cNvSpPr/>
          <p:nvPr/>
        </p:nvSpPr>
        <p:spPr>
          <a:xfrm>
            <a:off x="9482634" y="0"/>
            <a:ext cx="1354683" cy="101600"/>
          </a:xfrm>
          <a:prstGeom prst="rect">
            <a:avLst/>
          </a:prstGeom>
          <a:solidFill>
            <a:srgbClr val="A7A9AC"/>
          </a:solidFill>
          <a:ln/>
        </p:spPr>
      </p:sp>
      <p:sp>
        <p:nvSpPr>
          <p:cNvPr id="10" name="Shape 8"/>
          <p:cNvSpPr/>
          <p:nvPr/>
        </p:nvSpPr>
        <p:spPr>
          <a:xfrm>
            <a:off x="10837317" y="0"/>
            <a:ext cx="1354683" cy="101600"/>
          </a:xfrm>
          <a:prstGeom prst="rect">
            <a:avLst/>
          </a:prstGeom>
          <a:solidFill>
            <a:srgbClr val="FCCC0A"/>
          </a:solidFill>
          <a:ln/>
        </p:spPr>
      </p:sp>
      <p:sp>
        <p:nvSpPr>
          <p:cNvPr id="11" name="Text 9"/>
          <p:cNvSpPr/>
          <p:nvPr/>
        </p:nvSpPr>
        <p:spPr>
          <a:xfrm>
            <a:off x="812800" y="269502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A9AEB6"/>
                </a:solidFill>
                <a:latin typeface="JetBrains Mono" pitchFamily="49" charset="0"/>
                <a:ea typeface="JetBrains Mono" pitchFamily="49" charset="-122"/>
                <a:cs typeface="JetBrains Mono" pitchFamily="49" charset="-120"/>
              </a:rPr>
              <a:t>PROJECT PROPOSAL &amp; WORKING PROTOTYPE</a:t>
            </a:r>
            <a:endParaRPr lang="en-US" sz="1400" dirty="0"/>
          </a:p>
        </p:txBody>
      </p:sp>
      <p:sp>
        <p:nvSpPr>
          <p:cNvPr id="12" name="Text 10"/>
          <p:cNvSpPr/>
          <p:nvPr>
            <p:ph type="title"/>
          </p:nvPr>
        </p:nvSpPr>
        <p:spPr>
          <a:xfrm>
            <a:off x="812800" y="3197920"/>
            <a:ext cx="10883392" cy="1231900"/>
          </a:xfrm>
          <a:prstGeom prst="rect">
            <a:avLst/>
          </a:prstGeom>
          <a:noFill/>
          <a:ln/>
        </p:spPr>
        <p:txBody>
          <a:bodyPr wrap="square" lIns="0" tIns="0" rIns="0" bIns="0" rtlCol="0" anchor="t">
            <a:normAutofit/>
          </a:bodyPr>
          <a:lstStyle/>
          <a:p>
            <a:pPr algn="l" indent="0" marL="0">
              <a:lnSpc>
                <a:spcPts val="9500"/>
              </a:lnSpc>
              <a:buNone/>
            </a:pPr>
            <a:r>
              <a:rPr lang="en-US" sz="10000" b="1" i="0" spc="-200" kern="0" dirty="0">
                <a:solidFill>
                  <a:srgbClr val="F2F3F0"/>
                </a:solidFill>
                <a:latin typeface="Archivo" pitchFamily="34" charset="0"/>
                <a:ea typeface="Archivo" pitchFamily="34" charset="-122"/>
                <a:cs typeface="Archivo" pitchFamily="34" charset="-120"/>
              </a:rPr>
              <a:t>NYC Transit Hub</a:t>
            </a:r>
            <a:endParaRPr lang="en-US" sz="10000" dirty="0"/>
          </a:p>
        </p:txBody>
      </p:sp>
      <p:sp>
        <p:nvSpPr>
          <p:cNvPr id="13" name="Text 11"/>
          <p:cNvSpPr/>
          <p:nvPr/>
        </p:nvSpPr>
        <p:spPr>
          <a:xfrm>
            <a:off x="812800" y="4658420"/>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3D6DB"/>
                </a:solidFill>
                <a:latin typeface="Public Sans" pitchFamily="34" charset="0"/>
                <a:ea typeface="Public Sans" pitchFamily="34" charset="-122"/>
                <a:cs typeface="Public Sans" pitchFamily="34" charset="-120"/>
              </a:rPr>
              <a:t>Real-time subway status, arrivals, station accessibility and personal alerts for New York City, built on MTA open data.</a:t>
            </a:r>
            <a:endParaRPr lang="en-US" sz="2200" dirty="0"/>
          </a:p>
        </p:txBody>
      </p:sp>
      <p:sp>
        <p:nvSpPr>
          <p:cNvPr id="14" name="Text 12"/>
          <p:cNvSpPr/>
          <p:nvPr/>
        </p:nvSpPr>
        <p:spPr>
          <a:xfrm>
            <a:off x="8128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EE352E"/>
          </a:solidFill>
          <a:ln/>
        </p:spPr>
        <p:txBody>
          <a:bodyPr wrap="square" lIns="0" tIns="0" rIns="0" bIns="0" rtlCol="0" anchor="t">
            <a:normAutofit/>
          </a:bodyPr>
          <a:lstStyle/>
          <a:p>
            <a:pPr algn="ctr" indent="0" marL="0">
              <a:lnSpc>
                <a:spcPts val="3196"/>
              </a:lnSpc>
              <a:buNone/>
            </a:pPr>
            <a:r>
              <a:rPr lang="en-US" sz="1700" b="1" dirty="0">
                <a:solidFill>
                  <a:srgbClr val="FFFFFF"/>
                </a:solidFill>
                <a:latin typeface="Archivo" pitchFamily="34" charset="0"/>
                <a:ea typeface="Archivo" pitchFamily="34" charset="-122"/>
                <a:cs typeface="Archivo" pitchFamily="34" charset="-120"/>
              </a:rPr>
              <a:t>1</a:t>
            </a:r>
            <a:endParaRPr lang="en-US" sz="1700" dirty="0"/>
          </a:p>
        </p:txBody>
      </p:sp>
      <p:sp>
        <p:nvSpPr>
          <p:cNvPr id="15" name="Text 13"/>
          <p:cNvSpPr/>
          <p:nvPr/>
        </p:nvSpPr>
        <p:spPr>
          <a:xfrm>
            <a:off x="12954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0933C"/>
          </a:solidFill>
          <a:ln/>
        </p:spPr>
        <p:txBody>
          <a:bodyPr wrap="square" lIns="0" tIns="0" rIns="0" bIns="0" rtlCol="0" anchor="t">
            <a:normAutofit/>
          </a:bodyPr>
          <a:lstStyle/>
          <a:p>
            <a:pPr algn="ctr" indent="0" marL="0">
              <a:lnSpc>
                <a:spcPts val="3196"/>
              </a:lnSpc>
              <a:buNone/>
            </a:pPr>
            <a:r>
              <a:rPr lang="en-US" sz="1700" b="1" dirty="0">
                <a:solidFill>
                  <a:srgbClr val="FFFFFF"/>
                </a:solidFill>
                <a:latin typeface="Archivo" pitchFamily="34" charset="0"/>
                <a:ea typeface="Archivo" pitchFamily="34" charset="-122"/>
                <a:cs typeface="Archivo" pitchFamily="34" charset="-120"/>
              </a:rPr>
              <a:t>4</a:t>
            </a:r>
            <a:endParaRPr lang="en-US" sz="1700" dirty="0"/>
          </a:p>
        </p:txBody>
      </p:sp>
      <p:sp>
        <p:nvSpPr>
          <p:cNvPr id="16" name="Text 14"/>
          <p:cNvSpPr/>
          <p:nvPr/>
        </p:nvSpPr>
        <p:spPr>
          <a:xfrm>
            <a:off x="17780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B933AD"/>
          </a:solidFill>
          <a:ln/>
        </p:spPr>
        <p:txBody>
          <a:bodyPr wrap="square" lIns="0" tIns="0" rIns="0" bIns="0" rtlCol="0" anchor="t">
            <a:normAutofit/>
          </a:bodyPr>
          <a:lstStyle/>
          <a:p>
            <a:pPr algn="ctr" indent="0" marL="0">
              <a:lnSpc>
                <a:spcPts val="3196"/>
              </a:lnSpc>
              <a:buNone/>
            </a:pPr>
            <a:r>
              <a:rPr lang="en-US" sz="1700" b="1" dirty="0">
                <a:solidFill>
                  <a:srgbClr val="FFFFFF"/>
                </a:solidFill>
                <a:latin typeface="Archivo" pitchFamily="34" charset="0"/>
                <a:ea typeface="Archivo" pitchFamily="34" charset="-122"/>
                <a:cs typeface="Archivo" pitchFamily="34" charset="-120"/>
              </a:rPr>
              <a:t>7</a:t>
            </a:r>
            <a:endParaRPr lang="en-US" sz="1700" dirty="0"/>
          </a:p>
        </p:txBody>
      </p:sp>
      <p:sp>
        <p:nvSpPr>
          <p:cNvPr id="17" name="Text 15"/>
          <p:cNvSpPr/>
          <p:nvPr/>
        </p:nvSpPr>
        <p:spPr>
          <a:xfrm>
            <a:off x="22606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0039A6"/>
          </a:solidFill>
          <a:ln/>
        </p:spPr>
        <p:txBody>
          <a:bodyPr wrap="square" lIns="0" tIns="0" rIns="0" bIns="0" rtlCol="0" anchor="t">
            <a:normAutofit/>
          </a:bodyPr>
          <a:lstStyle/>
          <a:p>
            <a:pPr algn="ctr" indent="0" marL="0">
              <a:lnSpc>
                <a:spcPts val="3196"/>
              </a:lnSpc>
              <a:buNone/>
            </a:pPr>
            <a:r>
              <a:rPr lang="en-US" sz="1700" b="1" dirty="0">
                <a:solidFill>
                  <a:srgbClr val="FFFFFF"/>
                </a:solidFill>
                <a:latin typeface="Archivo" pitchFamily="34" charset="0"/>
                <a:ea typeface="Archivo" pitchFamily="34" charset="-122"/>
                <a:cs typeface="Archivo" pitchFamily="34" charset="-120"/>
              </a:rPr>
              <a:t>A</a:t>
            </a:r>
            <a:endParaRPr lang="en-US" sz="1700" dirty="0"/>
          </a:p>
        </p:txBody>
      </p:sp>
      <p:sp>
        <p:nvSpPr>
          <p:cNvPr id="18" name="Text 16"/>
          <p:cNvSpPr/>
          <p:nvPr/>
        </p:nvSpPr>
        <p:spPr>
          <a:xfrm>
            <a:off x="27432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F6319"/>
          </a:solidFill>
          <a:ln/>
        </p:spPr>
        <p:txBody>
          <a:bodyPr wrap="square" lIns="0" tIns="0" rIns="0" bIns="0" rtlCol="0" anchor="t">
            <a:normAutofit/>
          </a:bodyPr>
          <a:lstStyle/>
          <a:p>
            <a:pPr algn="ctr" indent="0" marL="0">
              <a:lnSpc>
                <a:spcPts val="3196"/>
              </a:lnSpc>
              <a:buNone/>
            </a:pPr>
            <a:r>
              <a:rPr lang="en-US" sz="1700" b="1" dirty="0">
                <a:solidFill>
                  <a:srgbClr val="FFFFFF"/>
                </a:solidFill>
                <a:latin typeface="Archivo" pitchFamily="34" charset="0"/>
                <a:ea typeface="Archivo" pitchFamily="34" charset="-122"/>
                <a:cs typeface="Archivo" pitchFamily="34" charset="-120"/>
              </a:rPr>
              <a:t>F</a:t>
            </a:r>
            <a:endParaRPr lang="en-US" sz="1700" dirty="0"/>
          </a:p>
        </p:txBody>
      </p:sp>
      <p:sp>
        <p:nvSpPr>
          <p:cNvPr id="19" name="Text 17"/>
          <p:cNvSpPr/>
          <p:nvPr/>
        </p:nvSpPr>
        <p:spPr>
          <a:xfrm>
            <a:off x="3225800" y="56388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FCCC0A"/>
          </a:solidFill>
          <a:ln/>
        </p:spPr>
        <p:txBody>
          <a:bodyPr wrap="square" lIns="0" tIns="0" rIns="0" bIns="0" rtlCol="0" anchor="t">
            <a:normAutofit/>
          </a:bodyPr>
          <a:lstStyle/>
          <a:p>
            <a:pPr algn="ctr" indent="0" marL="0">
              <a:lnSpc>
                <a:spcPts val="3196"/>
              </a:lnSpc>
              <a:buNone/>
            </a:pPr>
            <a:r>
              <a:rPr lang="en-US" sz="1700" b="1" dirty="0">
                <a:solidFill>
                  <a:srgbClr val="121316"/>
                </a:solidFill>
                <a:latin typeface="Archivo" pitchFamily="34" charset="0"/>
                <a:ea typeface="Archivo" pitchFamily="34" charset="-122"/>
                <a:cs typeface="Archivo" pitchFamily="34" charset="-120"/>
              </a:rPr>
              <a:t>Q</a:t>
            </a:r>
            <a:endParaRPr lang="en-US" sz="1700" dirty="0"/>
          </a:p>
        </p:txBody>
      </p:sp>
      <p:sp>
        <p:nvSpPr>
          <p:cNvPr id="20" name="Text 18"/>
          <p:cNvSpPr/>
          <p:nvPr/>
        </p:nvSpPr>
        <p:spPr>
          <a:xfrm>
            <a:off x="3860800" y="5717530"/>
            <a:ext cx="136808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EB6"/>
                </a:solidFill>
                <a:latin typeface="Public Sans" pitchFamily="34" charset="0"/>
                <a:ea typeface="Public Sans" pitchFamily="34" charset="-122"/>
                <a:cs typeface="Public Sans"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THE PROBLEM</a:t>
            </a:r>
            <a:endParaRPr lang="en-US" sz="1300" dirty="0"/>
          </a:p>
        </p:txBody>
      </p:sp>
      <p:sp>
        <p:nvSpPr>
          <p:cNvPr id="3" name="Text 1"/>
          <p:cNvSpPr/>
          <p:nvPr>
            <p:ph type="title"/>
          </p:nvPr>
        </p:nvSpPr>
        <p:spPr>
          <a:xfrm>
            <a:off x="812800" y="139953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21316"/>
                </a:solidFill>
                <a:latin typeface="Archivo" pitchFamily="34" charset="0"/>
                <a:ea typeface="Archivo" pitchFamily="34" charset="-122"/>
                <a:cs typeface="Archivo" pitchFamily="34" charset="-120"/>
              </a:rPr>
              <a:t>Before leaving home, a rider answers four questions in four places</a:t>
            </a:r>
            <a:endParaRPr lang="en-US" sz="3600" dirty="0"/>
          </a:p>
        </p:txBody>
      </p:sp>
      <p:sp>
        <p:nvSpPr>
          <p:cNvPr id="4" name="Shape 2"/>
          <p:cNvSpPr/>
          <p:nvPr/>
        </p:nvSpPr>
        <p:spPr>
          <a:xfrm>
            <a:off x="815975" y="2718346"/>
            <a:ext cx="2520950" cy="2393900"/>
          </a:xfrm>
          <a:prstGeom prst="roundRect">
            <a:avLst>
              <a:gd name="adj" fmla="val 4111"/>
            </a:avLst>
          </a:prstGeom>
          <a:solidFill>
            <a:srgbClr val="FFFFFF"/>
          </a:solidFill>
          <a:ln w="6350">
            <a:solidFill>
              <a:srgbClr val="D9DCD8"/>
            </a:solidFill>
            <a:prstDash val="solid"/>
          </a:ln>
        </p:spPr>
      </p:sp>
      <p:sp>
        <p:nvSpPr>
          <p:cNvPr id="5" name="Text 3"/>
          <p:cNvSpPr/>
          <p:nvPr/>
        </p:nvSpPr>
        <p:spPr>
          <a:xfrm>
            <a:off x="1073150" y="2975521"/>
            <a:ext cx="206679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E352E"/>
                </a:solidFill>
                <a:latin typeface="Archivo" pitchFamily="34" charset="0"/>
                <a:ea typeface="Archivo" pitchFamily="34" charset="-122"/>
                <a:cs typeface="Archivo" pitchFamily="34" charset="-120"/>
              </a:rPr>
              <a:t>?</a:t>
            </a:r>
            <a:endParaRPr lang="en-US" sz="3600" dirty="0"/>
          </a:p>
        </p:txBody>
      </p:sp>
      <p:sp>
        <p:nvSpPr>
          <p:cNvPr id="6" name="Text 4"/>
          <p:cNvSpPr/>
          <p:nvPr/>
        </p:nvSpPr>
        <p:spPr>
          <a:xfrm>
            <a:off x="1073150" y="3534321"/>
            <a:ext cx="2066798"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1316"/>
                </a:solidFill>
                <a:latin typeface="Archivo" pitchFamily="34" charset="0"/>
                <a:ea typeface="Archivo" pitchFamily="34" charset="-122"/>
                <a:cs typeface="Archivo" pitchFamily="34" charset="-120"/>
              </a:rPr>
              <a:t>Is my line running?</a:t>
            </a:r>
            <a:endParaRPr lang="en-US" sz="1800" dirty="0"/>
          </a:p>
        </p:txBody>
      </p:sp>
      <p:sp>
        <p:nvSpPr>
          <p:cNvPr id="7" name="Text 5"/>
          <p:cNvSpPr/>
          <p:nvPr/>
        </p:nvSpPr>
        <p:spPr>
          <a:xfrm>
            <a:off x="1073150" y="4161681"/>
            <a:ext cx="20667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Service alerts are long and written per incident, not per line.</a:t>
            </a:r>
            <a:endParaRPr lang="en-US" sz="1300" dirty="0"/>
          </a:p>
        </p:txBody>
      </p:sp>
      <p:sp>
        <p:nvSpPr>
          <p:cNvPr id="8" name="Shape 6"/>
          <p:cNvSpPr/>
          <p:nvPr/>
        </p:nvSpPr>
        <p:spPr>
          <a:xfrm>
            <a:off x="3495675" y="2718346"/>
            <a:ext cx="2520950" cy="2393900"/>
          </a:xfrm>
          <a:prstGeom prst="roundRect">
            <a:avLst>
              <a:gd name="adj" fmla="val 4111"/>
            </a:avLst>
          </a:prstGeom>
          <a:solidFill>
            <a:srgbClr val="FFFFFF"/>
          </a:solidFill>
          <a:ln w="6350">
            <a:solidFill>
              <a:srgbClr val="D9DCD8"/>
            </a:solidFill>
            <a:prstDash val="solid"/>
          </a:ln>
        </p:spPr>
      </p:sp>
      <p:sp>
        <p:nvSpPr>
          <p:cNvPr id="9" name="Text 7"/>
          <p:cNvSpPr/>
          <p:nvPr/>
        </p:nvSpPr>
        <p:spPr>
          <a:xfrm>
            <a:off x="3752850" y="2975521"/>
            <a:ext cx="206679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0933C"/>
                </a:solidFill>
                <a:latin typeface="Archivo" pitchFamily="34" charset="0"/>
                <a:ea typeface="Archivo" pitchFamily="34" charset="-122"/>
                <a:cs typeface="Archivo" pitchFamily="34" charset="-120"/>
              </a:rPr>
              <a:t>?</a:t>
            </a:r>
            <a:endParaRPr lang="en-US" sz="3600" dirty="0"/>
          </a:p>
        </p:txBody>
      </p:sp>
      <p:sp>
        <p:nvSpPr>
          <p:cNvPr id="10" name="Text 8"/>
          <p:cNvSpPr/>
          <p:nvPr/>
        </p:nvSpPr>
        <p:spPr>
          <a:xfrm>
            <a:off x="3752850" y="3534321"/>
            <a:ext cx="2066798"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1316"/>
                </a:solidFill>
                <a:latin typeface="Archivo" pitchFamily="34" charset="0"/>
                <a:ea typeface="Archivo" pitchFamily="34" charset="-122"/>
                <a:cs typeface="Archivo" pitchFamily="34" charset="-120"/>
              </a:rPr>
              <a:t>When is the next train?</a:t>
            </a:r>
            <a:endParaRPr lang="en-US" sz="1800" dirty="0"/>
          </a:p>
        </p:txBody>
      </p:sp>
      <p:sp>
        <p:nvSpPr>
          <p:cNvPr id="11" name="Text 9"/>
          <p:cNvSpPr/>
          <p:nvPr/>
        </p:nvSpPr>
        <p:spPr>
          <a:xfrm>
            <a:off x="3752850" y="4161681"/>
            <a:ext cx="20667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Countdown clocks are on the platform, after you have paid the fare.</a:t>
            </a:r>
            <a:endParaRPr lang="en-US" sz="1300" dirty="0"/>
          </a:p>
        </p:txBody>
      </p:sp>
      <p:sp>
        <p:nvSpPr>
          <p:cNvPr id="12" name="Shape 10"/>
          <p:cNvSpPr/>
          <p:nvPr/>
        </p:nvSpPr>
        <p:spPr>
          <a:xfrm>
            <a:off x="6175375" y="2718346"/>
            <a:ext cx="2520950" cy="2393900"/>
          </a:xfrm>
          <a:prstGeom prst="roundRect">
            <a:avLst>
              <a:gd name="adj" fmla="val 4111"/>
            </a:avLst>
          </a:prstGeom>
          <a:solidFill>
            <a:srgbClr val="FFFFFF"/>
          </a:solidFill>
          <a:ln w="6350">
            <a:solidFill>
              <a:srgbClr val="D9DCD8"/>
            </a:solidFill>
            <a:prstDash val="solid"/>
          </a:ln>
        </p:spPr>
      </p:sp>
      <p:sp>
        <p:nvSpPr>
          <p:cNvPr id="13" name="Text 11"/>
          <p:cNvSpPr/>
          <p:nvPr/>
        </p:nvSpPr>
        <p:spPr>
          <a:xfrm>
            <a:off x="6432550" y="2975521"/>
            <a:ext cx="206679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933AD"/>
                </a:solidFill>
                <a:latin typeface="Archivo" pitchFamily="34" charset="0"/>
                <a:ea typeface="Archivo" pitchFamily="34" charset="-122"/>
                <a:cs typeface="Archivo" pitchFamily="34" charset="-120"/>
              </a:rPr>
              <a:t>?</a:t>
            </a:r>
            <a:endParaRPr lang="en-US" sz="3600" dirty="0"/>
          </a:p>
        </p:txBody>
      </p:sp>
      <p:sp>
        <p:nvSpPr>
          <p:cNvPr id="14" name="Text 12"/>
          <p:cNvSpPr/>
          <p:nvPr/>
        </p:nvSpPr>
        <p:spPr>
          <a:xfrm>
            <a:off x="6432550" y="3534321"/>
            <a:ext cx="2066798"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1316"/>
                </a:solidFill>
                <a:latin typeface="Archivo" pitchFamily="34" charset="0"/>
                <a:ea typeface="Archivo" pitchFamily="34" charset="-122"/>
                <a:cs typeface="Archivo" pitchFamily="34" charset="-120"/>
              </a:rPr>
              <a:t>Is the elevator working?</a:t>
            </a:r>
            <a:endParaRPr lang="en-US" sz="1800" dirty="0"/>
          </a:p>
        </p:txBody>
      </p:sp>
      <p:sp>
        <p:nvSpPr>
          <p:cNvPr id="15" name="Text 13"/>
          <p:cNvSpPr/>
          <p:nvPr/>
        </p:nvSpPr>
        <p:spPr>
          <a:xfrm>
            <a:off x="6432550" y="4161681"/>
            <a:ext cx="20667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Outages sit in a separate list that most trip apps never show.</a:t>
            </a:r>
            <a:endParaRPr lang="en-US" sz="1300" dirty="0"/>
          </a:p>
        </p:txBody>
      </p:sp>
      <p:sp>
        <p:nvSpPr>
          <p:cNvPr id="16" name="Shape 14"/>
          <p:cNvSpPr/>
          <p:nvPr/>
        </p:nvSpPr>
        <p:spPr>
          <a:xfrm>
            <a:off x="8855075" y="2718346"/>
            <a:ext cx="2520950" cy="2393900"/>
          </a:xfrm>
          <a:prstGeom prst="roundRect">
            <a:avLst>
              <a:gd name="adj" fmla="val 4111"/>
            </a:avLst>
          </a:prstGeom>
          <a:solidFill>
            <a:srgbClr val="FFFFFF"/>
          </a:solidFill>
          <a:ln w="6350">
            <a:solidFill>
              <a:srgbClr val="D9DCD8"/>
            </a:solidFill>
            <a:prstDash val="solid"/>
          </a:ln>
        </p:spPr>
      </p:sp>
      <p:sp>
        <p:nvSpPr>
          <p:cNvPr id="17" name="Text 15"/>
          <p:cNvSpPr/>
          <p:nvPr/>
        </p:nvSpPr>
        <p:spPr>
          <a:xfrm>
            <a:off x="9112250" y="2975521"/>
            <a:ext cx="206679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6319"/>
                </a:solidFill>
                <a:latin typeface="Archivo" pitchFamily="34" charset="0"/>
                <a:ea typeface="Archivo" pitchFamily="34" charset="-122"/>
                <a:cs typeface="Archivo" pitchFamily="34" charset="-120"/>
              </a:rPr>
              <a:t>?</a:t>
            </a:r>
            <a:endParaRPr lang="en-US" sz="3600" dirty="0"/>
          </a:p>
        </p:txBody>
      </p:sp>
      <p:sp>
        <p:nvSpPr>
          <p:cNvPr id="18" name="Text 16"/>
          <p:cNvSpPr/>
          <p:nvPr/>
        </p:nvSpPr>
        <p:spPr>
          <a:xfrm>
            <a:off x="9112250" y="3534321"/>
            <a:ext cx="2066798"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1316"/>
                </a:solidFill>
                <a:latin typeface="Archivo" pitchFamily="34" charset="0"/>
                <a:ea typeface="Archivo" pitchFamily="34" charset="-122"/>
                <a:cs typeface="Archivo" pitchFamily="34" charset="-120"/>
              </a:rPr>
              <a:t>Will I hear if it changes?</a:t>
            </a:r>
            <a:endParaRPr lang="en-US" sz="1800" dirty="0"/>
          </a:p>
        </p:txBody>
      </p:sp>
      <p:sp>
        <p:nvSpPr>
          <p:cNvPr id="19" name="Text 17"/>
          <p:cNvSpPr/>
          <p:nvPr/>
        </p:nvSpPr>
        <p:spPr>
          <a:xfrm>
            <a:off x="9112250" y="4161681"/>
            <a:ext cx="20667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Riders want alerts for their own lines, in their own language.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THE PRODUCT</a:t>
            </a:r>
            <a:endParaRPr lang="en-US" sz="1300" dirty="0"/>
          </a:p>
        </p:txBody>
      </p:sp>
      <p:sp>
        <p:nvSpPr>
          <p:cNvPr id="3" name="Text 1"/>
          <p:cNvSpPr/>
          <p:nvPr>
            <p:ph type="title"/>
          </p:nvPr>
        </p:nvSpPr>
        <p:spPr>
          <a:xfrm>
            <a:off x="812800" y="1399530"/>
            <a:ext cx="10883392" cy="558800"/>
          </a:xfrm>
          <a:prstGeom prst="rect">
            <a:avLst/>
          </a:prstGeom>
          <a:noFill/>
          <a:ln/>
        </p:spPr>
        <p:txBody>
          <a:bodyPr wrap="square" lIns="0" tIns="0" rIns="0" bIns="0" rtlCol="0" anchor="t">
            <a:normAutofit/>
          </a:bodyPr>
          <a:lstStyle/>
          <a:p>
            <a:pPr algn="l" indent="0" marL="0">
              <a:lnSpc>
                <a:spcPts val="4200"/>
              </a:lnSpc>
              <a:buNone/>
            </a:pPr>
            <a:r>
              <a:rPr lang="en-US" sz="4000" b="1" i="0" spc="-50" kern="0" dirty="0">
                <a:solidFill>
                  <a:srgbClr val="121316"/>
                </a:solidFill>
                <a:latin typeface="Archivo" pitchFamily="34" charset="0"/>
                <a:ea typeface="Archivo" pitchFamily="34" charset="-122"/>
                <a:cs typeface="Archivo" pitchFamily="34" charset="-120"/>
              </a:rPr>
              <a:t>Six features, one screen</a:t>
            </a:r>
            <a:endParaRPr lang="en-US" sz="4000" dirty="0"/>
          </a:p>
        </p:txBody>
      </p:sp>
      <p:sp>
        <p:nvSpPr>
          <p:cNvPr id="4" name="Shape 2"/>
          <p:cNvSpPr/>
          <p:nvPr/>
        </p:nvSpPr>
        <p:spPr>
          <a:xfrm>
            <a:off x="815975" y="2291705"/>
            <a:ext cx="3414167" cy="1667470"/>
          </a:xfrm>
          <a:prstGeom prst="roundRect">
            <a:avLst>
              <a:gd name="adj" fmla="val 5903"/>
            </a:avLst>
          </a:prstGeom>
          <a:solidFill>
            <a:srgbClr val="FFFFFF"/>
          </a:solidFill>
          <a:ln w="6350">
            <a:solidFill>
              <a:srgbClr val="D9DCD8"/>
            </a:solidFill>
            <a:prstDash val="solid"/>
          </a:ln>
        </p:spPr>
      </p:sp>
      <p:pic>
        <p:nvPicPr>
          <p:cNvPr id="5" name="Image 0" descr="Chart">    </p:cNvPr>
          <p:cNvPicPr>
            <a:picLocks noChangeAspect="1"/>
          </p:cNvPicPr>
          <p:nvPr/>
        </p:nvPicPr>
        <p:blipFill>
          <a:blip r:embed="rId1"/>
          <a:srcRect l="0" r="0" t="0" b="0"/>
          <a:stretch/>
        </p:blipFill>
        <p:spPr>
          <a:xfrm>
            <a:off x="1047750" y="2523480"/>
            <a:ext cx="304800" cy="304800"/>
          </a:xfrm>
          <a:prstGeom prst="rect">
            <a:avLst/>
          </a:prstGeom>
        </p:spPr>
      </p:pic>
      <p:sp>
        <p:nvSpPr>
          <p:cNvPr id="6" name="Text 3"/>
          <p:cNvSpPr/>
          <p:nvPr/>
        </p:nvSpPr>
        <p:spPr>
          <a:xfrm>
            <a:off x="1047750" y="291718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Service status dashboard</a:t>
            </a:r>
            <a:endParaRPr lang="en-US" sz="1700" dirty="0"/>
          </a:p>
        </p:txBody>
      </p:sp>
      <p:sp>
        <p:nvSpPr>
          <p:cNvPr id="7" name="Text 4"/>
          <p:cNvSpPr/>
          <p:nvPr/>
        </p:nvSpPr>
        <p:spPr>
          <a:xfrm>
            <a:off x="1047750" y="3265140"/>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Every line at a glance: good, change, delays or suspended.</a:t>
            </a:r>
            <a:endParaRPr lang="en-US" sz="1300" dirty="0"/>
          </a:p>
        </p:txBody>
      </p:sp>
      <p:sp>
        <p:nvSpPr>
          <p:cNvPr id="8" name="Shape 5"/>
          <p:cNvSpPr/>
          <p:nvPr/>
        </p:nvSpPr>
        <p:spPr>
          <a:xfrm>
            <a:off x="4388892" y="2291705"/>
            <a:ext cx="3414167" cy="1667470"/>
          </a:xfrm>
          <a:prstGeom prst="roundRect">
            <a:avLst>
              <a:gd name="adj" fmla="val 5903"/>
            </a:avLst>
          </a:prstGeom>
          <a:solidFill>
            <a:srgbClr val="FFFFFF"/>
          </a:solidFill>
          <a:ln w="6350">
            <a:solidFill>
              <a:srgbClr val="D9DCD8"/>
            </a:solidFill>
            <a:prstDash val="solid"/>
          </a:ln>
        </p:spPr>
      </p:sp>
      <p:pic>
        <p:nvPicPr>
          <p:cNvPr id="9" name="Image 1" descr="Globe">    </p:cNvPr>
          <p:cNvPicPr>
            <a:picLocks noChangeAspect="1"/>
          </p:cNvPicPr>
          <p:nvPr/>
        </p:nvPicPr>
        <p:blipFill>
          <a:blip r:embed="rId2"/>
          <a:srcRect l="0" r="0" t="0" b="0"/>
          <a:stretch/>
        </p:blipFill>
        <p:spPr>
          <a:xfrm>
            <a:off x="4620667" y="2523480"/>
            <a:ext cx="304800" cy="304800"/>
          </a:xfrm>
          <a:prstGeom prst="rect">
            <a:avLst/>
          </a:prstGeom>
        </p:spPr>
      </p:pic>
      <p:sp>
        <p:nvSpPr>
          <p:cNvPr id="10" name="Text 6"/>
          <p:cNvSpPr/>
          <p:nvPr/>
        </p:nvSpPr>
        <p:spPr>
          <a:xfrm>
            <a:off x="4620667" y="291718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Interactive map</a:t>
            </a:r>
            <a:endParaRPr lang="en-US" sz="1700" dirty="0"/>
          </a:p>
        </p:txBody>
      </p:sp>
      <p:sp>
        <p:nvSpPr>
          <p:cNvPr id="11" name="Text 7"/>
          <p:cNvSpPr/>
          <p:nvPr/>
        </p:nvSpPr>
        <p:spPr>
          <a:xfrm>
            <a:off x="4620667" y="3265140"/>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Lines and stations; tap one for live arrivals by direction.</a:t>
            </a:r>
            <a:endParaRPr lang="en-US" sz="1300" dirty="0"/>
          </a:p>
        </p:txBody>
      </p:sp>
      <p:sp>
        <p:nvSpPr>
          <p:cNvPr id="12" name="Shape 8"/>
          <p:cNvSpPr/>
          <p:nvPr/>
        </p:nvSpPr>
        <p:spPr>
          <a:xfrm>
            <a:off x="7961809" y="2291705"/>
            <a:ext cx="3414216" cy="1667470"/>
          </a:xfrm>
          <a:prstGeom prst="roundRect">
            <a:avLst>
              <a:gd name="adj" fmla="val 5903"/>
            </a:avLst>
          </a:prstGeom>
          <a:solidFill>
            <a:srgbClr val="FFFFFF"/>
          </a:solidFill>
          <a:ln w="6350">
            <a:solidFill>
              <a:srgbClr val="D9DCD8"/>
            </a:solidFill>
            <a:prstDash val="solid"/>
          </a:ln>
        </p:spPr>
      </p:sp>
      <p:pic>
        <p:nvPicPr>
          <p:cNvPr id="13" name="Image 2" descr="Check">    </p:cNvPr>
          <p:cNvPicPr>
            <a:picLocks noChangeAspect="1"/>
          </p:cNvPicPr>
          <p:nvPr/>
        </p:nvPicPr>
        <p:blipFill>
          <a:blip r:embed="rId3"/>
          <a:srcRect l="0" r="0" t="0" b="0"/>
          <a:stretch/>
        </p:blipFill>
        <p:spPr>
          <a:xfrm>
            <a:off x="8193584" y="2523480"/>
            <a:ext cx="304800" cy="304800"/>
          </a:xfrm>
          <a:prstGeom prst="rect">
            <a:avLst/>
          </a:prstGeom>
        </p:spPr>
      </p:pic>
      <p:sp>
        <p:nvSpPr>
          <p:cNvPr id="14" name="Text 9"/>
          <p:cNvSpPr/>
          <p:nvPr/>
        </p:nvSpPr>
        <p:spPr>
          <a:xfrm>
            <a:off x="8193584" y="2917180"/>
            <a:ext cx="30391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Accessibility</a:t>
            </a:r>
            <a:endParaRPr lang="en-US" sz="1700" dirty="0"/>
          </a:p>
        </p:txBody>
      </p:sp>
      <p:sp>
        <p:nvSpPr>
          <p:cNvPr id="15" name="Text 10"/>
          <p:cNvSpPr/>
          <p:nvPr/>
        </p:nvSpPr>
        <p:spPr>
          <a:xfrm>
            <a:off x="8193584" y="3265140"/>
            <a:ext cx="303918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Current and planned elevator and escalator outages.</a:t>
            </a:r>
            <a:endParaRPr lang="en-US" sz="1300" dirty="0"/>
          </a:p>
        </p:txBody>
      </p:sp>
      <p:sp>
        <p:nvSpPr>
          <p:cNvPr id="16" name="Shape 11"/>
          <p:cNvSpPr/>
          <p:nvPr/>
        </p:nvSpPr>
        <p:spPr>
          <a:xfrm>
            <a:off x="815975" y="4117925"/>
            <a:ext cx="3414167" cy="1667470"/>
          </a:xfrm>
          <a:prstGeom prst="roundRect">
            <a:avLst>
              <a:gd name="adj" fmla="val 5903"/>
            </a:avLst>
          </a:prstGeom>
          <a:solidFill>
            <a:srgbClr val="FFFFFF"/>
          </a:solidFill>
          <a:ln w="6350">
            <a:solidFill>
              <a:srgbClr val="D9DCD8"/>
            </a:solidFill>
            <a:prstDash val="solid"/>
          </a:ln>
        </p:spPr>
      </p:sp>
      <p:pic>
        <p:nvPicPr>
          <p:cNvPr id="17" name="Image 3" descr="Star">    </p:cNvPr>
          <p:cNvPicPr>
            <a:picLocks noChangeAspect="1"/>
          </p:cNvPicPr>
          <p:nvPr/>
        </p:nvPicPr>
        <p:blipFill>
          <a:blip r:embed="rId4"/>
          <a:srcRect l="0" r="0" t="0" b="0"/>
          <a:stretch/>
        </p:blipFill>
        <p:spPr>
          <a:xfrm>
            <a:off x="1047750" y="4349700"/>
            <a:ext cx="304800" cy="304800"/>
          </a:xfrm>
          <a:prstGeom prst="rect">
            <a:avLst/>
          </a:prstGeom>
        </p:spPr>
      </p:pic>
      <p:sp>
        <p:nvSpPr>
          <p:cNvPr id="18" name="Text 12"/>
          <p:cNvSpPr/>
          <p:nvPr/>
        </p:nvSpPr>
        <p:spPr>
          <a:xfrm>
            <a:off x="1047750" y="474340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Favorites and alerts</a:t>
            </a:r>
            <a:endParaRPr lang="en-US" sz="1700" dirty="0"/>
          </a:p>
        </p:txBody>
      </p:sp>
      <p:sp>
        <p:nvSpPr>
          <p:cNvPr id="19" name="Text 13"/>
          <p:cNvSpPr/>
          <p:nvPr/>
        </p:nvSpPr>
        <p:spPr>
          <a:xfrm>
            <a:off x="1047750" y="5091361"/>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Star lines and stations; get notified when status changes.</a:t>
            </a:r>
            <a:endParaRPr lang="en-US" sz="1300" dirty="0"/>
          </a:p>
        </p:txBody>
      </p:sp>
      <p:sp>
        <p:nvSpPr>
          <p:cNvPr id="20" name="Shape 14"/>
          <p:cNvSpPr/>
          <p:nvPr/>
        </p:nvSpPr>
        <p:spPr>
          <a:xfrm>
            <a:off x="4388892" y="4117925"/>
            <a:ext cx="3414167" cy="1667470"/>
          </a:xfrm>
          <a:prstGeom prst="roundRect">
            <a:avLst>
              <a:gd name="adj" fmla="val 5903"/>
            </a:avLst>
          </a:prstGeom>
          <a:solidFill>
            <a:srgbClr val="FFFFFF"/>
          </a:solidFill>
          <a:ln w="6350">
            <a:solidFill>
              <a:srgbClr val="D9DCD8"/>
            </a:solidFill>
            <a:prstDash val="solid"/>
          </a:ln>
        </p:spPr>
      </p:sp>
      <p:pic>
        <p:nvPicPr>
          <p:cNvPr id="21" name="Image 4" descr="Chat">    </p:cNvPr>
          <p:cNvPicPr>
            <a:picLocks noChangeAspect="1"/>
          </p:cNvPicPr>
          <p:nvPr/>
        </p:nvPicPr>
        <p:blipFill>
          <a:blip r:embed="rId5"/>
          <a:srcRect l="0" r="0" t="0" b="0"/>
          <a:stretch/>
        </p:blipFill>
        <p:spPr>
          <a:xfrm>
            <a:off x="4620667" y="4349700"/>
            <a:ext cx="304800" cy="304800"/>
          </a:xfrm>
          <a:prstGeom prst="rect">
            <a:avLst/>
          </a:prstGeom>
        </p:spPr>
      </p:pic>
      <p:sp>
        <p:nvSpPr>
          <p:cNvPr id="22" name="Text 15"/>
          <p:cNvSpPr/>
          <p:nvPr/>
        </p:nvSpPr>
        <p:spPr>
          <a:xfrm>
            <a:off x="4620667" y="4743400"/>
            <a:ext cx="3039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Six languages</a:t>
            </a:r>
            <a:endParaRPr lang="en-US" sz="1700" dirty="0"/>
          </a:p>
        </p:txBody>
      </p:sp>
      <p:sp>
        <p:nvSpPr>
          <p:cNvPr id="23" name="Text 16"/>
          <p:cNvSpPr/>
          <p:nvPr/>
        </p:nvSpPr>
        <p:spPr>
          <a:xfrm>
            <a:off x="4620667" y="5091361"/>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English, Spanish, Chinese, Russian, Bengali, Korean.</a:t>
            </a:r>
            <a:endParaRPr lang="en-US" sz="1300" dirty="0"/>
          </a:p>
        </p:txBody>
      </p:sp>
      <p:sp>
        <p:nvSpPr>
          <p:cNvPr id="24" name="Shape 17"/>
          <p:cNvSpPr/>
          <p:nvPr/>
        </p:nvSpPr>
        <p:spPr>
          <a:xfrm>
            <a:off x="7961809" y="4117925"/>
            <a:ext cx="3414216" cy="1667470"/>
          </a:xfrm>
          <a:prstGeom prst="roundRect">
            <a:avLst>
              <a:gd name="adj" fmla="val 5903"/>
            </a:avLst>
          </a:prstGeom>
          <a:solidFill>
            <a:srgbClr val="FFFFFF"/>
          </a:solidFill>
          <a:ln w="6350">
            <a:solidFill>
              <a:srgbClr val="D9DCD8"/>
            </a:solidFill>
            <a:prstDash val="solid"/>
          </a:ln>
        </p:spPr>
      </p:sp>
      <p:pic>
        <p:nvPicPr>
          <p:cNvPr id="25" name="Image 5" descr="Users">    </p:cNvPr>
          <p:cNvPicPr>
            <a:picLocks noChangeAspect="1"/>
          </p:cNvPicPr>
          <p:nvPr/>
        </p:nvPicPr>
        <p:blipFill>
          <a:blip r:embed="rId6"/>
          <a:srcRect l="0" r="0" t="0" b="0"/>
          <a:stretch/>
        </p:blipFill>
        <p:spPr>
          <a:xfrm>
            <a:off x="8193584" y="4349700"/>
            <a:ext cx="304800" cy="304800"/>
          </a:xfrm>
          <a:prstGeom prst="rect">
            <a:avLst/>
          </a:prstGeom>
        </p:spPr>
      </p:pic>
      <p:sp>
        <p:nvSpPr>
          <p:cNvPr id="26" name="Text 18"/>
          <p:cNvSpPr/>
          <p:nvPr/>
        </p:nvSpPr>
        <p:spPr>
          <a:xfrm>
            <a:off x="8193584" y="4743400"/>
            <a:ext cx="30391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1316"/>
                </a:solidFill>
                <a:latin typeface="Archivo" pitchFamily="34" charset="0"/>
                <a:ea typeface="Archivo" pitchFamily="34" charset="-122"/>
                <a:cs typeface="Archivo" pitchFamily="34" charset="-120"/>
              </a:rPr>
              <a:t>User accounts</a:t>
            </a:r>
            <a:endParaRPr lang="en-US" sz="1700" dirty="0"/>
          </a:p>
        </p:txBody>
      </p:sp>
      <p:sp>
        <p:nvSpPr>
          <p:cNvPr id="27" name="Text 19"/>
          <p:cNvSpPr/>
          <p:nvPr/>
        </p:nvSpPr>
        <p:spPr>
          <a:xfrm>
            <a:off x="8193584" y="5091361"/>
            <a:ext cx="303918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Firebase sign-in; favorites sync across devices.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1316980"/>
            <a:ext cx="39243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SERVICE STATUS</a:t>
            </a:r>
            <a:endParaRPr lang="en-US" sz="1300" dirty="0"/>
          </a:p>
        </p:txBody>
      </p:sp>
      <p:sp>
        <p:nvSpPr>
          <p:cNvPr id="3" name="Text 1"/>
          <p:cNvSpPr/>
          <p:nvPr>
            <p:ph type="title"/>
          </p:nvPr>
        </p:nvSpPr>
        <p:spPr>
          <a:xfrm>
            <a:off x="812800" y="1751310"/>
            <a:ext cx="3924300" cy="903188"/>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One status per line, worst alert wins</a:t>
            </a:r>
            <a:endParaRPr lang="en-US" sz="3200" dirty="0"/>
          </a:p>
        </p:txBody>
      </p:sp>
      <p:sp>
        <p:nvSpPr>
          <p:cNvPr id="4" name="Text 2"/>
          <p:cNvSpPr/>
          <p:nvPr/>
        </p:nvSpPr>
        <p:spPr>
          <a:xfrm>
            <a:off x="812800" y="2832298"/>
            <a:ext cx="392430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7"/>
                </a:solidFill>
                <a:latin typeface="Public Sans" pitchFamily="34" charset="0"/>
                <a:ea typeface="Public Sans" pitchFamily="34" charset="-122"/>
                <a:cs typeface="Public Sans" pitchFamily="34" charset="-120"/>
              </a:rPr>
              <a:t>The server reads the MTA alerts feed, drops alerts outside their active period, and rolls the rest up by route.</a:t>
            </a:r>
            <a:endParaRPr lang="en-US" sz="1400" dirty="0"/>
          </a:p>
        </p:txBody>
      </p:sp>
      <p:sp>
        <p:nvSpPr>
          <p:cNvPr id="5" name="Text 3"/>
          <p:cNvSpPr/>
          <p:nvPr/>
        </p:nvSpPr>
        <p:spPr>
          <a:xfrm>
            <a:off x="812800" y="3808809"/>
            <a:ext cx="3810000" cy="375890"/>
          </a:xfrm>
          <a:prstGeom prst="roundRect">
            <a:avLst>
              <a:gd name="adj" fmla="val 50000"/>
            </a:avLst>
          </a:prstGeom>
          <a:solidFill>
            <a:srgbClr val="FBE5E5"/>
          </a:solidFill>
          <a:ln/>
        </p:spPr>
        <p:txBody>
          <a:bodyPr wrap="square" lIns="71953" tIns="8453" rIns="0" bIns="0" rtlCol="0" anchor="t">
            <a:normAutofit/>
          </a:bodyPr>
          <a:lstStyle/>
          <a:p>
            <a:pPr algn="l" indent="0" marL="0">
              <a:lnSpc>
                <a:spcPts val="1960"/>
              </a:lnSpc>
              <a:buNone/>
            </a:pPr>
            <a:r>
              <a:rPr lang="en-US" sz="1400" b="1" dirty="0">
                <a:solidFill>
                  <a:srgbClr val="A3161C"/>
                </a:solidFill>
                <a:latin typeface="Public Sans" pitchFamily="34" charset="0"/>
                <a:ea typeface="Public Sans" pitchFamily="34" charset="-122"/>
                <a:cs typeface="Public Sans" pitchFamily="34" charset="-120"/>
              </a:rPr>
              <a:t>Suspended — no service on part of the line</a:t>
            </a:r>
            <a:endParaRPr lang="en-US" sz="1400" dirty="0"/>
          </a:p>
        </p:txBody>
      </p:sp>
      <p:sp>
        <p:nvSpPr>
          <p:cNvPr id="6" name="Text 4"/>
          <p:cNvSpPr/>
          <p:nvPr/>
        </p:nvSpPr>
        <p:spPr>
          <a:xfrm>
            <a:off x="812800" y="4260900"/>
            <a:ext cx="3810000" cy="375890"/>
          </a:xfrm>
          <a:prstGeom prst="roundRect">
            <a:avLst>
              <a:gd name="adj" fmla="val 50000"/>
            </a:avLst>
          </a:prstGeom>
          <a:solidFill>
            <a:srgbClr val="FBEFDF"/>
          </a:solidFill>
          <a:ln/>
        </p:spPr>
        <p:txBody>
          <a:bodyPr wrap="square" lIns="71953" tIns="8453" rIns="0" bIns="0" rtlCol="0" anchor="t">
            <a:normAutofit/>
          </a:bodyPr>
          <a:lstStyle/>
          <a:p>
            <a:pPr algn="l" indent="0" marL="0">
              <a:lnSpc>
                <a:spcPts val="1960"/>
              </a:lnSpc>
              <a:buNone/>
            </a:pPr>
            <a:r>
              <a:rPr lang="en-US" sz="1400" b="1" dirty="0">
                <a:solidFill>
                  <a:srgbClr val="8A4700"/>
                </a:solidFill>
                <a:latin typeface="Public Sans" pitchFamily="34" charset="0"/>
                <a:ea typeface="Public Sans" pitchFamily="34" charset="-122"/>
                <a:cs typeface="Public Sans" pitchFamily="34" charset="-120"/>
              </a:rPr>
              <a:t>Delays — trains running slowly</a:t>
            </a:r>
            <a:endParaRPr lang="en-US" sz="1400" dirty="0"/>
          </a:p>
        </p:txBody>
      </p:sp>
      <p:sp>
        <p:nvSpPr>
          <p:cNvPr id="7" name="Text 5"/>
          <p:cNvSpPr/>
          <p:nvPr/>
        </p:nvSpPr>
        <p:spPr>
          <a:xfrm>
            <a:off x="812800" y="4712990"/>
            <a:ext cx="3810000" cy="375890"/>
          </a:xfrm>
          <a:prstGeom prst="roundRect">
            <a:avLst>
              <a:gd name="adj" fmla="val 50000"/>
            </a:avLst>
          </a:prstGeom>
          <a:solidFill>
            <a:srgbClr val="E5ECF8"/>
          </a:solidFill>
          <a:ln/>
        </p:spPr>
        <p:txBody>
          <a:bodyPr wrap="square" lIns="71953" tIns="8453" rIns="0" bIns="0" rtlCol="0" anchor="t">
            <a:normAutofit/>
          </a:bodyPr>
          <a:lstStyle/>
          <a:p>
            <a:pPr algn="l" indent="0" marL="0">
              <a:lnSpc>
                <a:spcPts val="1960"/>
              </a:lnSpc>
              <a:buNone/>
            </a:pPr>
            <a:r>
              <a:rPr lang="en-US" sz="1400" b="1" dirty="0">
                <a:solidFill>
                  <a:srgbClr val="1F4FB8"/>
                </a:solidFill>
                <a:latin typeface="Public Sans" pitchFamily="34" charset="0"/>
                <a:ea typeface="Public Sans" pitchFamily="34" charset="-122"/>
                <a:cs typeface="Public Sans" pitchFamily="34" charset="-120"/>
              </a:rPr>
              <a:t>Service change — reroutes, skipped stops</a:t>
            </a:r>
            <a:endParaRPr lang="en-US" sz="1400" dirty="0"/>
          </a:p>
        </p:txBody>
      </p:sp>
      <p:sp>
        <p:nvSpPr>
          <p:cNvPr id="8" name="Text 6"/>
          <p:cNvSpPr/>
          <p:nvPr/>
        </p:nvSpPr>
        <p:spPr>
          <a:xfrm>
            <a:off x="812800" y="5165080"/>
            <a:ext cx="3810000" cy="375890"/>
          </a:xfrm>
          <a:prstGeom prst="roundRect">
            <a:avLst>
              <a:gd name="adj" fmla="val 50000"/>
            </a:avLst>
          </a:prstGeom>
          <a:solidFill>
            <a:srgbClr val="E6F2EA"/>
          </a:solidFill>
          <a:ln/>
        </p:spPr>
        <p:txBody>
          <a:bodyPr wrap="square" lIns="71953" tIns="8453" rIns="0" bIns="0" rtlCol="0" anchor="t">
            <a:normAutofit/>
          </a:bodyPr>
          <a:lstStyle/>
          <a:p>
            <a:pPr algn="l" indent="0" marL="0">
              <a:lnSpc>
                <a:spcPts val="1960"/>
              </a:lnSpc>
              <a:buNone/>
            </a:pPr>
            <a:r>
              <a:rPr lang="en-US" sz="1400" b="1" dirty="0">
                <a:solidFill>
                  <a:srgbClr val="1F6B3E"/>
                </a:solidFill>
                <a:latin typeface="Public Sans" pitchFamily="34" charset="0"/>
                <a:ea typeface="Public Sans" pitchFamily="34" charset="-122"/>
                <a:cs typeface="Public Sans" pitchFamily="34" charset="-120"/>
              </a:rPr>
              <a:t>Good service</a:t>
            </a:r>
            <a:endParaRPr lang="en-US" sz="1400" dirty="0"/>
          </a:p>
        </p:txBody>
      </p:sp>
      <p:pic>
        <p:nvPicPr>
          <p:cNvPr id="9" name="Image 0" descr="Service status dashboard showing one status pill per subway line and the active alert list">    </p:cNvPr>
          <p:cNvPicPr>
            <a:picLocks noChangeAspect="1"/>
          </p:cNvPicPr>
          <p:nvPr/>
        </p:nvPicPr>
        <p:blipFill>
          <a:blip r:embed="rId1"/>
          <a:srcRect l="0" r="0" t="47" b="47"/>
          <a:stretch/>
        </p:blipFill>
        <p:spPr>
          <a:xfrm>
            <a:off x="5035550" y="1549400"/>
            <a:ext cx="6337300" cy="3759200"/>
          </a:xfrm>
          <a:prstGeom prst="roundRect">
            <a:avLst>
              <a:gd name="adj" fmla="val 2534"/>
            </a:avLst>
          </a:prstGeom>
          <a:effectLst>
            <a:outerShdw sx="100000" sy="100000" kx="0" ky="0" algn="bl" rotWithShape="0" blurRad="406400" dist="152400" dir="5400000">
              <a:srgbClr val="121316">
                <a:alpha val="18000"/>
              </a:srgbClr>
            </a:outerShdw>
          </a:effectLst>
        </p:spPr>
      </p:pic>
      <p:sp>
        <p:nvSpPr>
          <p:cNvPr id="10" name="Shape 7"/>
          <p:cNvSpPr/>
          <p:nvPr/>
        </p:nvSpPr>
        <p:spPr>
          <a:xfrm>
            <a:off x="5032375" y="1546225"/>
            <a:ext cx="6343650" cy="3765550"/>
          </a:xfrm>
          <a:prstGeom prst="roundRect">
            <a:avLst>
              <a:gd name="adj" fmla="val 2614"/>
            </a:avLst>
          </a:prstGeom>
          <a:noFill/>
          <a:ln w="6350">
            <a:solidFill>
              <a:srgbClr val="D9DCD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0"/>
        </a:solidFill>
      </p:bgPr>
    </p:bg>
    <p:spTree>
      <p:nvGrpSpPr>
        <p:cNvPr id="1" name=""/>
        <p:cNvGrpSpPr/>
        <p:nvPr/>
      </p:nvGrpSpPr>
      <p:grpSpPr>
        <a:xfrm>
          <a:off x="0" y="0"/>
          <a:ext cx="0" cy="0"/>
          <a:chOff x="0" y="0"/>
          <a:chExt cx="0" cy="0"/>
        </a:xfrm>
      </p:grpSpPr>
      <p:pic>
        <p:nvPicPr>
          <p:cNvPr id="2" name="Image 0" descr="Map view with subway lines and the Times Sq-42 St station panel listing next trains uptown and downtown">    </p:cNvPr>
          <p:cNvPicPr>
            <a:picLocks noChangeAspect="1"/>
          </p:cNvPicPr>
          <p:nvPr/>
        </p:nvPicPr>
        <p:blipFill>
          <a:blip r:embed="rId1"/>
          <a:srcRect l="0" r="0" t="47" b="47"/>
          <a:stretch/>
        </p:blipFill>
        <p:spPr>
          <a:xfrm>
            <a:off x="819150" y="1549400"/>
            <a:ext cx="6337300" cy="3759200"/>
          </a:xfrm>
          <a:prstGeom prst="roundRect">
            <a:avLst>
              <a:gd name="adj" fmla="val 2534"/>
            </a:avLst>
          </a:prstGeom>
          <a:effectLst>
            <a:outerShdw sx="100000" sy="100000" kx="0" ky="0" algn="bl" rotWithShape="0" blurRad="406400" dist="152400" dir="5400000">
              <a:srgbClr val="121316">
                <a:alpha val="18000"/>
              </a:srgbClr>
            </a:outerShdw>
          </a:effectLst>
        </p:spPr>
      </p:pic>
      <p:sp>
        <p:nvSpPr>
          <p:cNvPr id="3" name="Shape 0"/>
          <p:cNvSpPr/>
          <p:nvPr/>
        </p:nvSpPr>
        <p:spPr>
          <a:xfrm>
            <a:off x="815975" y="1546225"/>
            <a:ext cx="6343650" cy="3765550"/>
          </a:xfrm>
          <a:prstGeom prst="roundRect">
            <a:avLst>
              <a:gd name="adj" fmla="val 2614"/>
            </a:avLst>
          </a:prstGeom>
          <a:noFill/>
          <a:ln w="6350">
            <a:solidFill>
              <a:srgbClr val="D9DCD8"/>
            </a:solidFill>
            <a:prstDash val="solid"/>
          </a:ln>
        </p:spPr>
      </p:sp>
      <p:sp>
        <p:nvSpPr>
          <p:cNvPr id="4" name="Text 1"/>
          <p:cNvSpPr/>
          <p:nvPr/>
        </p:nvSpPr>
        <p:spPr>
          <a:xfrm>
            <a:off x="7569200" y="1898005"/>
            <a:ext cx="39243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MAP &amp; ARRIVALS</a:t>
            </a:r>
            <a:endParaRPr lang="en-US" sz="1300" dirty="0"/>
          </a:p>
        </p:txBody>
      </p:sp>
      <p:sp>
        <p:nvSpPr>
          <p:cNvPr id="5" name="Text 2"/>
          <p:cNvSpPr/>
          <p:nvPr>
            <p:ph type="title"/>
          </p:nvPr>
        </p:nvSpPr>
        <p:spPr>
          <a:xfrm>
            <a:off x="7569200" y="2332335"/>
            <a:ext cx="3924300" cy="903188"/>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Tap a station, see the next trains</a:t>
            </a:r>
            <a:endParaRPr lang="en-US" sz="3200" dirty="0"/>
          </a:p>
        </p:txBody>
      </p:sp>
      <p:sp>
        <p:nvSpPr>
          <p:cNvPr id="6" name="Text 3"/>
          <p:cNvSpPr/>
          <p:nvPr/>
        </p:nvSpPr>
        <p:spPr>
          <a:xfrm>
            <a:off x="7653782" y="3413323"/>
            <a:ext cx="3832098" cy="1572022"/>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Leaflet map with lines and every station complex</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Search by name; panel shows lines, step-free access and outages</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Arrivals decoded from GTFS-realtime, split uptown and downtown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1769120"/>
            <a:ext cx="39243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ACCESSIBILITY</a:t>
            </a:r>
            <a:endParaRPr lang="en-US" sz="1300" dirty="0"/>
          </a:p>
        </p:txBody>
      </p:sp>
      <p:sp>
        <p:nvSpPr>
          <p:cNvPr id="3" name="Text 1"/>
          <p:cNvSpPr/>
          <p:nvPr>
            <p:ph type="title"/>
          </p:nvPr>
        </p:nvSpPr>
        <p:spPr>
          <a:xfrm>
            <a:off x="812800" y="2203450"/>
            <a:ext cx="3924300" cy="903188"/>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Know the elevator is out before you go</a:t>
            </a:r>
            <a:endParaRPr lang="en-US" sz="3200" dirty="0"/>
          </a:p>
        </p:txBody>
      </p:sp>
      <p:sp>
        <p:nvSpPr>
          <p:cNvPr id="4" name="Text 2"/>
          <p:cNvSpPr/>
          <p:nvPr/>
        </p:nvSpPr>
        <p:spPr>
          <a:xfrm>
            <a:off x="897382" y="3284438"/>
            <a:ext cx="3832098" cy="1829792"/>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Current and planned outages from the MTA elevator and escalator feeds</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Filter to equipment on accessible (ADA) routes</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Expected return time for each outage</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Affected stations are outlined in red on the map</a:t>
            </a:r>
            <a:endParaRPr lang="en-US" sz="1400" dirty="0"/>
          </a:p>
        </p:txBody>
      </p:sp>
      <p:pic>
        <p:nvPicPr>
          <p:cNvPr id="5" name="Image 0" descr="Accessibility view listing elevator and escalator outages with station, lines and expected return time">    </p:cNvPr>
          <p:cNvPicPr>
            <a:picLocks noChangeAspect="1"/>
          </p:cNvPicPr>
          <p:nvPr/>
        </p:nvPicPr>
        <p:blipFill>
          <a:blip r:embed="rId1"/>
          <a:srcRect l="0" r="0" t="47" b="47"/>
          <a:stretch/>
        </p:blipFill>
        <p:spPr>
          <a:xfrm>
            <a:off x="5035550" y="1549400"/>
            <a:ext cx="6337300" cy="3759200"/>
          </a:xfrm>
          <a:prstGeom prst="roundRect">
            <a:avLst>
              <a:gd name="adj" fmla="val 2534"/>
            </a:avLst>
          </a:prstGeom>
          <a:effectLst>
            <a:outerShdw sx="100000" sy="100000" kx="0" ky="0" algn="bl" rotWithShape="0" blurRad="406400" dist="152400" dir="5400000">
              <a:srgbClr val="121316">
                <a:alpha val="18000"/>
              </a:srgbClr>
            </a:outerShdw>
          </a:effectLst>
        </p:spPr>
      </p:pic>
      <p:sp>
        <p:nvSpPr>
          <p:cNvPr id="6" name="Shape 3"/>
          <p:cNvSpPr/>
          <p:nvPr/>
        </p:nvSpPr>
        <p:spPr>
          <a:xfrm>
            <a:off x="5032375" y="1546225"/>
            <a:ext cx="6343650" cy="3765550"/>
          </a:xfrm>
          <a:prstGeom prst="roundRect">
            <a:avLst>
              <a:gd name="adj" fmla="val 2614"/>
            </a:avLst>
          </a:prstGeom>
          <a:noFill/>
          <a:ln w="6350">
            <a:solidFill>
              <a:srgbClr val="D9DCD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PERSONAL &amp; MULTILINGUAL</a:t>
            </a:r>
            <a:endParaRPr lang="en-US" sz="1300" dirty="0"/>
          </a:p>
        </p:txBody>
      </p:sp>
      <p:sp>
        <p:nvSpPr>
          <p:cNvPr id="3" name="Text 1"/>
          <p:cNvSpPr/>
          <p:nvPr>
            <p:ph type="title"/>
          </p:nvPr>
        </p:nvSpPr>
        <p:spPr>
          <a:xfrm>
            <a:off x="812800" y="139953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21316"/>
                </a:solidFill>
                <a:latin typeface="Archivo" pitchFamily="34" charset="0"/>
                <a:ea typeface="Archivo" pitchFamily="34" charset="-122"/>
                <a:cs typeface="Archivo" pitchFamily="34" charset="-120"/>
              </a:rPr>
              <a:t>Your lines, your language, on every device</a:t>
            </a:r>
            <a:endParaRPr lang="en-US" sz="3600" dirty="0"/>
          </a:p>
        </p:txBody>
      </p:sp>
      <p:sp>
        <p:nvSpPr>
          <p:cNvPr id="4" name="Shape 2"/>
          <p:cNvSpPr/>
          <p:nvPr/>
        </p:nvSpPr>
        <p:spPr>
          <a:xfrm>
            <a:off x="815975" y="2238325"/>
            <a:ext cx="3414167" cy="2087066"/>
          </a:xfrm>
          <a:prstGeom prst="roundRect">
            <a:avLst>
              <a:gd name="adj" fmla="val 4716"/>
            </a:avLst>
          </a:prstGeom>
          <a:solidFill>
            <a:srgbClr val="FFFFFF"/>
          </a:solidFill>
          <a:ln w="6350">
            <a:solidFill>
              <a:srgbClr val="D9DCD8"/>
            </a:solidFill>
            <a:prstDash val="solid"/>
          </a:ln>
        </p:spPr>
      </p:sp>
      <p:sp>
        <p:nvSpPr>
          <p:cNvPr id="5" name="Text 3"/>
          <p:cNvSpPr/>
          <p:nvPr/>
        </p:nvSpPr>
        <p:spPr>
          <a:xfrm>
            <a:off x="1073150" y="2495500"/>
            <a:ext cx="298681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Favorites &amp; alerts</a:t>
            </a:r>
            <a:endParaRPr lang="en-US" sz="1800" dirty="0"/>
          </a:p>
        </p:txBody>
      </p:sp>
      <p:sp>
        <p:nvSpPr>
          <p:cNvPr id="6" name="Text 4"/>
          <p:cNvSpPr/>
          <p:nvPr/>
        </p:nvSpPr>
        <p:spPr>
          <a:xfrm>
            <a:off x="1073150" y="2871391"/>
            <a:ext cx="2986811"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7"/>
                </a:solidFill>
                <a:latin typeface="Public Sans" pitchFamily="34" charset="0"/>
                <a:ea typeface="Public Sans" pitchFamily="34" charset="-122"/>
                <a:cs typeface="Public Sans" pitchFamily="34" charset="-120"/>
              </a:rPr>
              <a:t>Star any line or station. With alerts on, the app checks status every 60 seconds and sends a browser notification when a saved line changes.</a:t>
            </a:r>
            <a:endParaRPr lang="en-US" sz="1300" dirty="0"/>
          </a:p>
        </p:txBody>
      </p:sp>
      <p:sp>
        <p:nvSpPr>
          <p:cNvPr id="7" name="Shape 5"/>
          <p:cNvSpPr/>
          <p:nvPr/>
        </p:nvSpPr>
        <p:spPr>
          <a:xfrm>
            <a:off x="4388892" y="2238325"/>
            <a:ext cx="3414167" cy="2087066"/>
          </a:xfrm>
          <a:prstGeom prst="roundRect">
            <a:avLst>
              <a:gd name="adj" fmla="val 4716"/>
            </a:avLst>
          </a:prstGeom>
          <a:solidFill>
            <a:srgbClr val="FFFFFF"/>
          </a:solidFill>
          <a:ln w="6350">
            <a:solidFill>
              <a:srgbClr val="D9DCD8"/>
            </a:solidFill>
            <a:prstDash val="solid"/>
          </a:ln>
        </p:spPr>
      </p:sp>
      <p:sp>
        <p:nvSpPr>
          <p:cNvPr id="8" name="Text 6"/>
          <p:cNvSpPr/>
          <p:nvPr/>
        </p:nvSpPr>
        <p:spPr>
          <a:xfrm>
            <a:off x="4646067" y="2495500"/>
            <a:ext cx="298681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Firebase accounts</a:t>
            </a:r>
            <a:endParaRPr lang="en-US" sz="1800" dirty="0"/>
          </a:p>
        </p:txBody>
      </p:sp>
      <p:sp>
        <p:nvSpPr>
          <p:cNvPr id="9" name="Text 7"/>
          <p:cNvSpPr/>
          <p:nvPr/>
        </p:nvSpPr>
        <p:spPr>
          <a:xfrm>
            <a:off x="4646067" y="2871391"/>
            <a:ext cx="2986811"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7"/>
                </a:solidFill>
                <a:latin typeface="Public Sans" pitchFamily="34" charset="0"/>
                <a:ea typeface="Public Sans" pitchFamily="34" charset="-122"/>
                <a:cs typeface="Public Sans" pitchFamily="34" charset="-120"/>
              </a:rPr>
              <a:t>Email/password or Google sign-in. Favorites live in Firestore at users/{uid}; security rules let each user touch only their own record.</a:t>
            </a:r>
            <a:endParaRPr lang="en-US" sz="1300" dirty="0"/>
          </a:p>
        </p:txBody>
      </p:sp>
      <p:sp>
        <p:nvSpPr>
          <p:cNvPr id="10" name="Shape 8"/>
          <p:cNvSpPr/>
          <p:nvPr/>
        </p:nvSpPr>
        <p:spPr>
          <a:xfrm>
            <a:off x="7961809" y="2238325"/>
            <a:ext cx="3414216" cy="2087066"/>
          </a:xfrm>
          <a:prstGeom prst="roundRect">
            <a:avLst>
              <a:gd name="adj" fmla="val 4716"/>
            </a:avLst>
          </a:prstGeom>
          <a:solidFill>
            <a:srgbClr val="FFFFFF"/>
          </a:solidFill>
          <a:ln w="6350">
            <a:solidFill>
              <a:srgbClr val="D9DCD8"/>
            </a:solidFill>
            <a:prstDash val="solid"/>
          </a:ln>
        </p:spPr>
      </p:sp>
      <p:sp>
        <p:nvSpPr>
          <p:cNvPr id="11" name="Text 9"/>
          <p:cNvSpPr/>
          <p:nvPr/>
        </p:nvSpPr>
        <p:spPr>
          <a:xfrm>
            <a:off x="8218984" y="2495500"/>
            <a:ext cx="298686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Six languages</a:t>
            </a:r>
            <a:endParaRPr lang="en-US" sz="1800" dirty="0"/>
          </a:p>
        </p:txBody>
      </p:sp>
      <p:sp>
        <p:nvSpPr>
          <p:cNvPr id="12" name="Text 10"/>
          <p:cNvSpPr/>
          <p:nvPr/>
        </p:nvSpPr>
        <p:spPr>
          <a:xfrm>
            <a:off x="8218984" y="2871391"/>
            <a:ext cx="2986862"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7"/>
                </a:solidFill>
                <a:latin typeface="Public Sans" pitchFamily="34" charset="0"/>
                <a:ea typeface="Public Sans" pitchFamily="34" charset="-122"/>
                <a:cs typeface="Public Sans" pitchFamily="34" charset="-120"/>
              </a:rPr>
              <a:t>English, Español, 中文, Русский, বাংলা, 한국어. The choice is also sent to the server so MTA alert text comes back translated where the feed has it.</a:t>
            </a:r>
            <a:endParaRPr lang="en-US" sz="1300" dirty="0"/>
          </a:p>
        </p:txBody>
      </p:sp>
      <p:sp>
        <p:nvSpPr>
          <p:cNvPr id="13" name="Text 11"/>
          <p:cNvSpPr/>
          <p:nvPr/>
        </p:nvSpPr>
        <p:spPr>
          <a:xfrm>
            <a:off x="812800" y="4684167"/>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Public Sans" pitchFamily="34" charset="0"/>
                <a:ea typeface="Public Sans" pitchFamily="34" charset="-122"/>
                <a:cs typeface="Public Sans" pitchFamily="34" charset="-120"/>
              </a:rPr>
              <a:t>Signed out, favorites are kept in the browser and merged into the account on first sign-in.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7E9E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ARCHITECTURE</a:t>
            </a:r>
            <a:endParaRPr lang="en-US" sz="1300" dirty="0"/>
          </a:p>
        </p:txBody>
      </p:sp>
      <p:sp>
        <p:nvSpPr>
          <p:cNvPr id="3" name="Text 1"/>
          <p:cNvSpPr/>
          <p:nvPr>
            <p:ph type="title"/>
          </p:nvPr>
        </p:nvSpPr>
        <p:spPr>
          <a:xfrm>
            <a:off x="812800" y="1196330"/>
            <a:ext cx="10883392" cy="46429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A thin server turns MTA feeds into small JSON</a:t>
            </a:r>
            <a:endParaRPr lang="en-US" sz="3200" dirty="0"/>
          </a:p>
        </p:txBody>
      </p:sp>
      <p:sp>
        <p:nvSpPr>
          <p:cNvPr id="4" name="Shape 2"/>
          <p:cNvSpPr/>
          <p:nvPr/>
        </p:nvSpPr>
        <p:spPr>
          <a:xfrm>
            <a:off x="819150" y="2419350"/>
            <a:ext cx="2781300" cy="1765300"/>
          </a:xfrm>
          <a:prstGeom prst="roundRect">
            <a:avLst>
              <a:gd name="adj" fmla="val 5396"/>
            </a:avLst>
          </a:prstGeom>
          <a:solidFill>
            <a:srgbClr val="FFFFFF"/>
          </a:solidFill>
          <a:ln w="12700">
            <a:solidFill>
              <a:srgbClr val="121316"/>
            </a:solidFill>
            <a:prstDash val="solid"/>
          </a:ln>
        </p:spPr>
      </p:sp>
      <p:sp>
        <p:nvSpPr>
          <p:cNvPr id="5" name="Text 3"/>
          <p:cNvSpPr/>
          <p:nvPr/>
        </p:nvSpPr>
        <p:spPr>
          <a:xfrm>
            <a:off x="1028700" y="2628900"/>
            <a:ext cx="243306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Browser</a:t>
            </a:r>
            <a:endParaRPr lang="en-US" sz="1800" dirty="0"/>
          </a:p>
        </p:txBody>
      </p:sp>
      <p:sp>
        <p:nvSpPr>
          <p:cNvPr id="6" name="Text 4"/>
          <p:cNvSpPr/>
          <p:nvPr/>
        </p:nvSpPr>
        <p:spPr>
          <a:xfrm>
            <a:off x="1028700" y="2979390"/>
            <a:ext cx="24330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HTML + JS modules, Leaflet map, i18n, notifications</a:t>
            </a:r>
            <a:endParaRPr lang="en-US" sz="1300" dirty="0"/>
          </a:p>
        </p:txBody>
      </p:sp>
      <p:sp>
        <p:nvSpPr>
          <p:cNvPr id="7" name="Shape 5"/>
          <p:cNvSpPr/>
          <p:nvPr/>
        </p:nvSpPr>
        <p:spPr>
          <a:xfrm>
            <a:off x="4705350" y="2419350"/>
            <a:ext cx="2781300" cy="1765300"/>
          </a:xfrm>
          <a:prstGeom prst="roundRect">
            <a:avLst>
              <a:gd name="adj" fmla="val 5396"/>
            </a:avLst>
          </a:prstGeom>
          <a:solidFill>
            <a:srgbClr val="121316"/>
          </a:solidFill>
          <a:ln w="12700">
            <a:solidFill>
              <a:srgbClr val="121316"/>
            </a:solidFill>
            <a:prstDash val="solid"/>
          </a:ln>
        </p:spPr>
      </p:sp>
      <p:sp>
        <p:nvSpPr>
          <p:cNvPr id="8" name="Text 6"/>
          <p:cNvSpPr/>
          <p:nvPr/>
        </p:nvSpPr>
        <p:spPr>
          <a:xfrm>
            <a:off x="4914900" y="2628900"/>
            <a:ext cx="243306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3F0"/>
                </a:solidFill>
                <a:latin typeface="Archivo" pitchFamily="34" charset="0"/>
                <a:ea typeface="Archivo" pitchFamily="34" charset="-122"/>
                <a:cs typeface="Archivo" pitchFamily="34" charset="-120"/>
              </a:rPr>
              <a:t>Node API</a:t>
            </a:r>
            <a:endParaRPr lang="en-US" sz="1800" dirty="0"/>
          </a:p>
        </p:txBody>
      </p:sp>
      <p:sp>
        <p:nvSpPr>
          <p:cNvPr id="9" name="Text 7"/>
          <p:cNvSpPr/>
          <p:nvPr/>
        </p:nvSpPr>
        <p:spPr>
          <a:xfrm>
            <a:off x="4914900" y="2979390"/>
            <a:ext cx="243306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DD3"/>
                </a:solidFill>
                <a:latin typeface="Public Sans" pitchFamily="34" charset="0"/>
                <a:ea typeface="Public Sans" pitchFamily="34" charset="-122"/>
                <a:cs typeface="Public Sans" pitchFamily="34" charset="-120"/>
              </a:rPr>
              <a:t>Express, protobuf decode, 30-second cache, sample-data fallback</a:t>
            </a:r>
            <a:endParaRPr lang="en-US" sz="1300" dirty="0"/>
          </a:p>
        </p:txBody>
      </p:sp>
      <p:sp>
        <p:nvSpPr>
          <p:cNvPr id="10" name="Shape 8"/>
          <p:cNvSpPr/>
          <p:nvPr/>
        </p:nvSpPr>
        <p:spPr>
          <a:xfrm>
            <a:off x="8591550" y="2165350"/>
            <a:ext cx="2781300" cy="2273300"/>
          </a:xfrm>
          <a:prstGeom prst="roundRect">
            <a:avLst>
              <a:gd name="adj" fmla="val 4190"/>
            </a:avLst>
          </a:prstGeom>
          <a:solidFill>
            <a:srgbClr val="FFFFFF"/>
          </a:solidFill>
          <a:ln w="12700">
            <a:solidFill>
              <a:srgbClr val="121316"/>
            </a:solidFill>
            <a:prstDash val="solid"/>
          </a:ln>
        </p:spPr>
      </p:sp>
      <p:sp>
        <p:nvSpPr>
          <p:cNvPr id="11" name="Text 9"/>
          <p:cNvSpPr/>
          <p:nvPr/>
        </p:nvSpPr>
        <p:spPr>
          <a:xfrm>
            <a:off x="8801100" y="2374900"/>
            <a:ext cx="243306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MTA feeds</a:t>
            </a:r>
            <a:endParaRPr lang="en-US" sz="1800" dirty="0"/>
          </a:p>
        </p:txBody>
      </p:sp>
      <p:sp>
        <p:nvSpPr>
          <p:cNvPr id="12" name="Text 10"/>
          <p:cNvSpPr/>
          <p:nvPr/>
        </p:nvSpPr>
        <p:spPr>
          <a:xfrm>
            <a:off x="8801100" y="2725390"/>
            <a:ext cx="2565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8 subway GTFS-realtime feeds</a:t>
            </a:r>
            <a:endParaRPr lang="en-US" sz="1300" dirty="0"/>
          </a:p>
        </p:txBody>
      </p:sp>
      <p:sp>
        <p:nvSpPr>
          <p:cNvPr id="13" name="Text 11"/>
          <p:cNvSpPr/>
          <p:nvPr/>
        </p:nvSpPr>
        <p:spPr>
          <a:xfrm>
            <a:off x="8801100" y="3032720"/>
            <a:ext cx="24330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Subway alerts (JSON)</a:t>
            </a:r>
            <a:endParaRPr lang="en-US" sz="1300" dirty="0"/>
          </a:p>
        </p:txBody>
      </p:sp>
      <p:sp>
        <p:nvSpPr>
          <p:cNvPr id="14" name="Text 12"/>
          <p:cNvSpPr/>
          <p:nvPr/>
        </p:nvSpPr>
        <p:spPr>
          <a:xfrm>
            <a:off x="8801100" y="3340050"/>
            <a:ext cx="24330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Elevator &amp; escalator status</a:t>
            </a:r>
            <a:endParaRPr lang="en-US" sz="1300" dirty="0"/>
          </a:p>
        </p:txBody>
      </p:sp>
      <p:sp>
        <p:nvSpPr>
          <p:cNvPr id="15" name="Text 13"/>
          <p:cNvSpPr/>
          <p:nvPr/>
        </p:nvSpPr>
        <p:spPr>
          <a:xfrm>
            <a:off x="8801100" y="3647380"/>
            <a:ext cx="24330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Public Sans" pitchFamily="34" charset="0"/>
                <a:ea typeface="Public Sans" pitchFamily="34" charset="-122"/>
                <a:cs typeface="Public Sans" pitchFamily="34" charset="-120"/>
              </a:rPr>
              <a:t>Bus Time SIRI (key)</a:t>
            </a:r>
            <a:endParaRPr lang="en-US" sz="1300" dirty="0"/>
          </a:p>
        </p:txBody>
      </p:sp>
      <p:sp>
        <p:nvSpPr>
          <p:cNvPr id="16" name="Shape 14"/>
          <p:cNvSpPr/>
          <p:nvPr/>
        </p:nvSpPr>
        <p:spPr>
          <a:xfrm>
            <a:off x="819150" y="4832350"/>
            <a:ext cx="2781300" cy="939800"/>
          </a:xfrm>
          <a:prstGeom prst="roundRect">
            <a:avLst>
              <a:gd name="adj" fmla="val 10135"/>
            </a:avLst>
          </a:prstGeom>
          <a:solidFill>
            <a:srgbClr val="FFF4DA"/>
          </a:solidFill>
          <a:ln w="12700">
            <a:solidFill>
              <a:srgbClr val="121316"/>
            </a:solidFill>
            <a:prstDash val="solid"/>
          </a:ln>
        </p:spPr>
      </p:sp>
      <p:sp>
        <p:nvSpPr>
          <p:cNvPr id="17" name="Text 15"/>
          <p:cNvSpPr/>
          <p:nvPr/>
        </p:nvSpPr>
        <p:spPr>
          <a:xfrm>
            <a:off x="1028700" y="5041900"/>
            <a:ext cx="2433066" cy="280442"/>
          </a:xfrm>
          <a:prstGeom prst="rect">
            <a:avLst/>
          </a:prstGeom>
          <a:noFill/>
          <a:ln/>
        </p:spPr>
        <p:txBody>
          <a:bodyPr wrap="square" lIns="0" tIns="0" rIns="0" bIns="0" rtlCol="0" anchor="t">
            <a:normAutofit/>
          </a:bodyPr>
          <a:lstStyle/>
          <a:p>
            <a:pPr algn="l" indent="0" marL="0">
              <a:lnSpc>
                <a:spcPts val="2018"/>
              </a:lnSpc>
              <a:buNone/>
            </a:pPr>
            <a:r>
              <a:rPr lang="en-US" sz="1682" b="1" dirty="0">
                <a:solidFill>
                  <a:srgbClr val="121316"/>
                </a:solidFill>
                <a:latin typeface="Archivo" pitchFamily="34" charset="0"/>
                <a:ea typeface="Archivo" pitchFamily="34" charset="-122"/>
                <a:cs typeface="Archivo" pitchFamily="34" charset="-120"/>
              </a:rPr>
              <a:t>Firebase</a:t>
            </a:r>
            <a:endParaRPr lang="en-US" sz="1682" dirty="0"/>
          </a:p>
        </p:txBody>
      </p:sp>
      <p:sp>
        <p:nvSpPr>
          <p:cNvPr id="18" name="Text 16"/>
          <p:cNvSpPr/>
          <p:nvPr/>
        </p:nvSpPr>
        <p:spPr>
          <a:xfrm>
            <a:off x="1028700" y="5347742"/>
            <a:ext cx="2433066" cy="240258"/>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4A4F57"/>
                </a:solidFill>
                <a:latin typeface="Public Sans" pitchFamily="34" charset="0"/>
                <a:ea typeface="Public Sans" pitchFamily="34" charset="-122"/>
                <a:cs typeface="Public Sans" pitchFamily="34" charset="-120"/>
              </a:rPr>
              <a:t>Auth + Firestore favorites</a:t>
            </a:r>
            <a:endParaRPr lang="en-US" sz="1231" dirty="0"/>
          </a:p>
        </p:txBody>
      </p:sp>
      <p:pic>
        <p:nvPicPr>
          <p:cNvPr id="19" name="Image 0" descr="connector">    </p:cNvPr>
          <p:cNvPicPr>
            <a:picLocks noChangeAspect="1"/>
          </p:cNvPicPr>
          <p:nvPr/>
        </p:nvPicPr>
        <p:blipFill>
          <a:blip r:embed="rId1"/>
          <a:srcRect l="0" r="0" t="0" b="0"/>
          <a:stretch/>
        </p:blipFill>
        <p:spPr>
          <a:xfrm>
            <a:off x="3543300" y="3238500"/>
            <a:ext cx="1219200" cy="127000"/>
          </a:xfrm>
          <a:prstGeom prst="rect">
            <a:avLst/>
          </a:prstGeom>
        </p:spPr>
      </p:pic>
      <p:pic>
        <p:nvPicPr>
          <p:cNvPr id="20" name="Image 1" descr="connector">    </p:cNvPr>
          <p:cNvPicPr>
            <a:picLocks noChangeAspect="1"/>
          </p:cNvPicPr>
          <p:nvPr/>
        </p:nvPicPr>
        <p:blipFill>
          <a:blip r:embed="rId2"/>
          <a:srcRect l="0" r="0" t="0" b="0"/>
          <a:stretch/>
        </p:blipFill>
        <p:spPr>
          <a:xfrm>
            <a:off x="7429500" y="3238500"/>
            <a:ext cx="1219200" cy="127000"/>
          </a:xfrm>
          <a:prstGeom prst="rect">
            <a:avLst/>
          </a:prstGeom>
        </p:spPr>
      </p:pic>
      <p:pic>
        <p:nvPicPr>
          <p:cNvPr id="21" name="Image 2" descr="connector">    </p:cNvPr>
          <p:cNvPicPr>
            <a:picLocks noChangeAspect="1"/>
          </p:cNvPicPr>
          <p:nvPr/>
        </p:nvPicPr>
        <p:blipFill>
          <a:blip r:embed="rId3"/>
          <a:srcRect l="0" r="0" t="0" b="0"/>
          <a:stretch/>
        </p:blipFill>
        <p:spPr>
          <a:xfrm>
            <a:off x="2146300" y="4127500"/>
            <a:ext cx="127000" cy="762000"/>
          </a:xfrm>
          <a:prstGeom prst="rect">
            <a:avLst/>
          </a:prstGeom>
        </p:spPr>
      </p:pic>
      <p:sp>
        <p:nvSpPr>
          <p:cNvPr id="22" name="Text 17"/>
          <p:cNvSpPr/>
          <p:nvPr/>
        </p:nvSpPr>
        <p:spPr>
          <a:xfrm>
            <a:off x="3657600" y="2921000"/>
            <a:ext cx="1003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F4FB8"/>
                </a:solidFill>
                <a:latin typeface="JetBrains Mono" pitchFamily="49" charset="0"/>
                <a:ea typeface="JetBrains Mono" pitchFamily="49" charset="-122"/>
                <a:cs typeface="JetBrains Mono" pitchFamily="49" charset="-120"/>
              </a:rPr>
              <a:t>/api</a:t>
            </a:r>
            <a:endParaRPr lang="en-US" sz="1200" dirty="0"/>
          </a:p>
        </p:txBody>
      </p:sp>
      <p:sp>
        <p:nvSpPr>
          <p:cNvPr id="23" name="Text 18"/>
          <p:cNvSpPr/>
          <p:nvPr/>
        </p:nvSpPr>
        <p:spPr>
          <a:xfrm>
            <a:off x="7518400" y="2921000"/>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F4FB8"/>
                </a:solidFill>
                <a:latin typeface="JetBrains Mono" pitchFamily="49" charset="0"/>
                <a:ea typeface="JetBrains Mono" pitchFamily="49" charset="-122"/>
                <a:cs typeface="JetBrains Mono" pitchFamily="49" charset="-120"/>
              </a:rPr>
              <a:t>HTTPS</a:t>
            </a:r>
            <a:endParaRPr lang="en-US" sz="1200" dirty="0"/>
          </a:p>
        </p:txBody>
      </p:sp>
      <p:sp>
        <p:nvSpPr>
          <p:cNvPr id="24" name="Text 19"/>
          <p:cNvSpPr/>
          <p:nvPr/>
        </p:nvSpPr>
        <p:spPr>
          <a:xfrm>
            <a:off x="4699000" y="4572000"/>
            <a:ext cx="68806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4F57"/>
                </a:solidFill>
                <a:latin typeface="Public Sans" pitchFamily="34" charset="0"/>
                <a:ea typeface="Public Sans" pitchFamily="34" charset="-122"/>
                <a:cs typeface="Public Sans" pitchFamily="34" charset="-120"/>
              </a:rPr>
              <a:t>The MTA feeds are protobuf and send no CORS headers, so the browser can’t read them directly. One cached upstream call per feed serves every user, and responses are labelled live or sample.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9E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MTA DATA</a:t>
            </a:r>
            <a:endParaRPr lang="en-US" sz="1300" dirty="0"/>
          </a:p>
        </p:txBody>
      </p:sp>
      <p:sp>
        <p:nvSpPr>
          <p:cNvPr id="3" name="Text 1"/>
          <p:cNvSpPr/>
          <p:nvPr>
            <p:ph type="title"/>
          </p:nvPr>
        </p:nvSpPr>
        <p:spPr>
          <a:xfrm>
            <a:off x="812800" y="1348730"/>
            <a:ext cx="10883392" cy="46429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Everything except buses runs without an API key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05124"/>
          <a:ext cx="10553700" cy="2316063"/>
        </p:xfrm>
        <a:graphic>
          <a:graphicData uri="http://schemas.openxmlformats.org/drawingml/2006/table">
            <a:tbl>
              <a:tblPr/>
              <a:tblGrid>
                <a:gridCol w="3166110"/>
                <a:gridCol w="2321814"/>
                <a:gridCol w="1477518"/>
                <a:gridCol w="3588258"/>
              </a:tblGrid>
              <a:tr h="386011">
                <a:tc>
                  <a:txBody>
                    <a:bodyPr/>
                    <a:lstStyle/>
                    <a:p>
                      <a:pPr indent="0" marL="0">
                        <a:lnSpc>
                          <a:spcPts val="1960"/>
                        </a:lnSpc>
                        <a:buNone/>
                      </a:pPr>
                      <a:r>
                        <a:rPr lang="en-US" sz="1400" b="1" dirty="0">
                          <a:solidFill>
                            <a:srgbClr val="F2F3F0"/>
                          </a:solidFill>
                          <a:latin typeface="Public Sans" pitchFamily="34" charset="0"/>
                          <a:ea typeface="Public Sans" pitchFamily="34" charset="-122"/>
                          <a:cs typeface="Public Sans" pitchFamily="34" charset="-120"/>
                        </a:rPr>
                        <a:t>Feed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121315"/>
                      </a:solidFill>
                      <a:prstDash val="solid"/>
                      <a:round/>
                      <a:headEnd type="none" w="med" len="med"/>
                      <a:tailEnd type="none" w="med" len="med"/>
                    </a:lnR>
                    <a:lnT w="12700" cap="flat" cmpd="sng" algn="ctr">
                      <a:solidFill>
                        <a:srgbClr val="B9BAB7"/>
                      </a:solidFill>
                      <a:prstDash val="solid"/>
                      <a:round/>
                      <a:headEnd type="none" w="med" len="med"/>
                      <a:tailEnd type="none" w="med" len="med"/>
                    </a:lnT>
                    <a:lnB w="12700" cap="flat" cmpd="sng" algn="ctr">
                      <a:solidFill>
                        <a:srgbClr val="121315"/>
                      </a:solidFill>
                      <a:prstDash val="solid"/>
                      <a:round/>
                      <a:headEnd type="none" w="med" len="med"/>
                      <a:tailEnd type="none" w="med" len="med"/>
                    </a:lnB>
                    <a:solidFill>
                      <a:srgbClr val="121316"/>
                    </a:solidFill>
                  </a:tcPr>
                </a:tc>
                <a:tc>
                  <a:txBody>
                    <a:bodyPr/>
                    <a:lstStyle/>
                    <a:p>
                      <a:pPr indent="0" marL="0">
                        <a:lnSpc>
                          <a:spcPts val="1960"/>
                        </a:lnSpc>
                        <a:buNone/>
                      </a:pPr>
                      <a:r>
                        <a:rPr lang="en-US" sz="1400" b="1" dirty="0">
                          <a:solidFill>
                            <a:srgbClr val="F2F3F0"/>
                          </a:solidFill>
                          <a:latin typeface="Public Sans" pitchFamily="34" charset="0"/>
                          <a:ea typeface="Public Sans" pitchFamily="34" charset="-122"/>
                          <a:cs typeface="Public Sans" pitchFamily="34" charset="-120"/>
                        </a:rPr>
                        <a:t>Format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121315"/>
                      </a:solidFill>
                      <a:prstDash val="solid"/>
                      <a:round/>
                      <a:headEnd type="none" w="med" len="med"/>
                      <a:tailEnd type="none" w="med" len="med"/>
                    </a:lnL>
                    <a:lnR w="12700" cap="flat" cmpd="sng" algn="ctr">
                      <a:solidFill>
                        <a:srgbClr val="121315"/>
                      </a:solidFill>
                      <a:prstDash val="solid"/>
                      <a:round/>
                      <a:headEnd type="none" w="med" len="med"/>
                      <a:tailEnd type="none" w="med" len="med"/>
                    </a:lnR>
                    <a:lnT w="12700" cap="flat" cmpd="sng" algn="ctr">
                      <a:solidFill>
                        <a:srgbClr val="B9BAB7"/>
                      </a:solidFill>
                      <a:prstDash val="solid"/>
                      <a:round/>
                      <a:headEnd type="none" w="med" len="med"/>
                      <a:tailEnd type="none" w="med" len="med"/>
                    </a:lnT>
                    <a:lnB w="12700" cap="flat" cmpd="sng" algn="ctr">
                      <a:solidFill>
                        <a:srgbClr val="121315"/>
                      </a:solidFill>
                      <a:prstDash val="solid"/>
                      <a:round/>
                      <a:headEnd type="none" w="med" len="med"/>
                      <a:tailEnd type="none" w="med" len="med"/>
                    </a:lnB>
                    <a:solidFill>
                      <a:srgbClr val="121316"/>
                    </a:solidFill>
                  </a:tcPr>
                </a:tc>
                <a:tc>
                  <a:txBody>
                    <a:bodyPr/>
                    <a:lstStyle/>
                    <a:p>
                      <a:pPr indent="0" marL="0">
                        <a:lnSpc>
                          <a:spcPts val="1960"/>
                        </a:lnSpc>
                        <a:buNone/>
                      </a:pPr>
                      <a:r>
                        <a:rPr lang="en-US" sz="1400" b="1" dirty="0">
                          <a:solidFill>
                            <a:srgbClr val="F2F3F0"/>
                          </a:solidFill>
                          <a:latin typeface="Public Sans" pitchFamily="34" charset="0"/>
                          <a:ea typeface="Public Sans" pitchFamily="34" charset="-122"/>
                          <a:cs typeface="Public Sans" pitchFamily="34" charset="-120"/>
                        </a:rPr>
                        <a:t>Key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121315"/>
                      </a:solidFill>
                      <a:prstDash val="solid"/>
                      <a:round/>
                      <a:headEnd type="none" w="med" len="med"/>
                      <a:tailEnd type="none" w="med" len="med"/>
                    </a:lnL>
                    <a:lnR w="12700" cap="flat" cmpd="sng" algn="ctr">
                      <a:solidFill>
                        <a:srgbClr val="121315"/>
                      </a:solidFill>
                      <a:prstDash val="solid"/>
                      <a:round/>
                      <a:headEnd type="none" w="med" len="med"/>
                      <a:tailEnd type="none" w="med" len="med"/>
                    </a:lnR>
                    <a:lnT w="12700" cap="flat" cmpd="sng" algn="ctr">
                      <a:solidFill>
                        <a:srgbClr val="B9BAB7"/>
                      </a:solidFill>
                      <a:prstDash val="solid"/>
                      <a:round/>
                      <a:headEnd type="none" w="med" len="med"/>
                      <a:tailEnd type="none" w="med" len="med"/>
                    </a:lnT>
                    <a:lnB w="12700" cap="flat" cmpd="sng" algn="ctr">
                      <a:solidFill>
                        <a:srgbClr val="121315"/>
                      </a:solidFill>
                      <a:prstDash val="solid"/>
                      <a:round/>
                      <a:headEnd type="none" w="med" len="med"/>
                      <a:tailEnd type="none" w="med" len="med"/>
                    </a:lnB>
                    <a:solidFill>
                      <a:srgbClr val="121316"/>
                    </a:solidFill>
                  </a:tcPr>
                </a:tc>
                <a:tc>
                  <a:txBody>
                    <a:bodyPr/>
                    <a:lstStyle/>
                    <a:p>
                      <a:pPr indent="0" marL="0">
                        <a:lnSpc>
                          <a:spcPts val="1960"/>
                        </a:lnSpc>
                        <a:buNone/>
                      </a:pPr>
                      <a:r>
                        <a:rPr lang="en-US" sz="1400" b="1" dirty="0">
                          <a:solidFill>
                            <a:srgbClr val="F2F3F0"/>
                          </a:solidFill>
                          <a:latin typeface="Public Sans" pitchFamily="34" charset="0"/>
                          <a:ea typeface="Public Sans" pitchFamily="34" charset="-122"/>
                          <a:cs typeface="Public Sans" pitchFamily="34" charset="-120"/>
                        </a:rPr>
                        <a:t>Powers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121315"/>
                      </a:solidFill>
                      <a:prstDash val="solid"/>
                      <a:round/>
                      <a:headEnd type="none" w="med" len="med"/>
                      <a:tailEnd type="none" w="med" len="med"/>
                    </a:lnL>
                    <a:lnR w="12700" cap="flat" cmpd="sng" algn="ctr">
                      <a:solidFill>
                        <a:srgbClr val="121315"/>
                      </a:solidFill>
                      <a:prstDash val="solid"/>
                      <a:round/>
                      <a:headEnd type="none" w="med" len="med"/>
                      <a:tailEnd type="none" w="med" len="med"/>
                    </a:lnR>
                    <a:lnT w="12700" cap="flat" cmpd="sng" algn="ctr">
                      <a:solidFill>
                        <a:srgbClr val="B9BAB7"/>
                      </a:solidFill>
                      <a:prstDash val="solid"/>
                      <a:round/>
                      <a:headEnd type="none" w="med" len="med"/>
                      <a:tailEnd type="none" w="med" len="med"/>
                    </a:lnT>
                    <a:lnB w="12700" cap="flat" cmpd="sng" algn="ctr">
                      <a:solidFill>
                        <a:srgbClr val="121315"/>
                      </a:solidFill>
                      <a:prstDash val="solid"/>
                      <a:round/>
                      <a:headEnd type="none" w="med" len="med"/>
                      <a:tailEnd type="none" w="med" len="med"/>
                    </a:lnB>
                    <a:solidFill>
                      <a:srgbClr val="121316"/>
                    </a:solidFill>
                  </a:tcPr>
                </a:tc>
              </a:tr>
              <a:tr h="386011">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Subway realtime (8 feeds)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31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GTFS-RT protobuf</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31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None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31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Next-train arrivals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31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Subway alerts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GTFS-RT JSON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None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Status dashboard, alerts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r>
              <a:tr h="386011">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Elevators &amp; escalators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JSON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None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Accessibility view, map flags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Static subway GTFS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CSV in zip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None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Station list and coordinates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C2BF"/>
                      </a:solidFill>
                      <a:prstDash val="solid"/>
                      <a:round/>
                      <a:headEnd type="none" w="med" len="med"/>
                      <a:tailEnd type="none" w="med" len="med"/>
                    </a:lnL>
                    <a:lnR w="12700" cap="flat" cmpd="sng" algn="ctr">
                      <a:solidFill>
                        <a:srgbClr val="C1C2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2BF"/>
                      </a:solidFill>
                      <a:prstDash val="solid"/>
                      <a:round/>
                      <a:headEnd type="none" w="med" len="med"/>
                      <a:tailEnd type="none" w="med" len="med"/>
                    </a:lnB>
                    <a:solidFill>
                      <a:srgbClr val="F2F3F0"/>
                    </a:solidFill>
                  </a:tcPr>
                </a:tc>
              </a:tr>
              <a:tr h="386011">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Bus Time SIRI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9BAB7"/>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JSON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Free key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1316"/>
                          </a:solidFill>
                          <a:latin typeface="Public Sans" pitchFamily="34" charset="0"/>
                          <a:ea typeface="Public Sans" pitchFamily="34" charset="-122"/>
                          <a:cs typeface="Public Sans" pitchFamily="34" charset="-120"/>
                        </a:rPr>
                        <a:t>Bus arrivals API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2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Public Sans" pitchFamily="34" charset="0"/>
                <a:ea typeface="Public Sans" pitchFamily="34" charset="-122"/>
                <a:cs typeface="Public Sans" pitchFamily="34" charset="-120"/>
              </a:rPr>
              <a:t>Sources: api.mta.info, bustime.mta.info developer docs. Use is subject to the MTA Data Feed Agreement.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7E9E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BUILD STATUS</a:t>
            </a:r>
            <a:endParaRPr lang="en-US" sz="1300" dirty="0"/>
          </a:p>
        </p:txBody>
      </p:sp>
      <p:sp>
        <p:nvSpPr>
          <p:cNvPr id="3" name="Text 1"/>
          <p:cNvSpPr/>
          <p:nvPr>
            <p:ph type="title"/>
          </p:nvPr>
        </p:nvSpPr>
        <p:spPr>
          <a:xfrm>
            <a:off x="812800" y="1399530"/>
            <a:ext cx="10883392" cy="46429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21316"/>
                </a:solidFill>
                <a:latin typeface="Archivo" pitchFamily="34" charset="0"/>
                <a:ea typeface="Archivo" pitchFamily="34" charset="-122"/>
                <a:cs typeface="Archivo" pitchFamily="34" charset="-120"/>
              </a:rPr>
              <a:t>Working prototype, tested and runnable offline</a:t>
            </a:r>
            <a:endParaRPr lang="en-US" sz="3200" dirty="0"/>
          </a:p>
        </p:txBody>
      </p:sp>
      <p:sp>
        <p:nvSpPr>
          <p:cNvPr id="4" name="Shape 2"/>
          <p:cNvSpPr/>
          <p:nvPr/>
        </p:nvSpPr>
        <p:spPr>
          <a:xfrm>
            <a:off x="815975" y="2197199"/>
            <a:ext cx="5200650" cy="3084264"/>
          </a:xfrm>
          <a:prstGeom prst="roundRect">
            <a:avLst>
              <a:gd name="adj" fmla="val 3191"/>
            </a:avLst>
          </a:prstGeom>
          <a:solidFill>
            <a:srgbClr val="FFFFFF"/>
          </a:solidFill>
          <a:ln w="6350">
            <a:solidFill>
              <a:srgbClr val="CFD3CE"/>
            </a:solidFill>
            <a:prstDash val="solid"/>
          </a:ln>
        </p:spPr>
      </p:sp>
      <p:sp>
        <p:nvSpPr>
          <p:cNvPr id="5" name="Text 3"/>
          <p:cNvSpPr/>
          <p:nvPr/>
        </p:nvSpPr>
        <p:spPr>
          <a:xfrm>
            <a:off x="1073150" y="2454374"/>
            <a:ext cx="482688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Stack</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5850" y="2868364"/>
          <a:ext cx="4673600" cy="2155924"/>
        </p:xfrm>
        <a:graphic>
          <a:graphicData uri="http://schemas.openxmlformats.org/drawingml/2006/table">
            <a:tbl>
              <a:tblPr/>
              <a:tblGrid>
                <a:gridCol w="1775968"/>
                <a:gridCol w="2897632"/>
              </a:tblGrid>
              <a:tr h="359321">
                <a:tc>
                  <a:txBody>
                    <a:bodyPr/>
                    <a:lstStyle/>
                    <a:p>
                      <a:pPr indent="0" marL="0">
                        <a:lnSpc>
                          <a:spcPts val="1820"/>
                        </a:lnSpc>
                        <a:buNone/>
                      </a:pPr>
                      <a:r>
                        <a:rPr lang="en-US" sz="1300" b="1" dirty="0">
                          <a:solidFill>
                            <a:srgbClr val="121316"/>
                          </a:solidFill>
                          <a:latin typeface="Public Sans" pitchFamily="34" charset="0"/>
                          <a:ea typeface="Public Sans" pitchFamily="34" charset="-122"/>
                          <a:cs typeface="Public Sans" pitchFamily="34" charset="-120"/>
                        </a:rPr>
                        <a:t>Layer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21316"/>
                          </a:solidFill>
                          <a:latin typeface="Public Sans" pitchFamily="34" charset="0"/>
                          <a:ea typeface="Public Sans" pitchFamily="34" charset="-122"/>
                          <a:cs typeface="Public Sans" pitchFamily="34" charset="-120"/>
                        </a:rPr>
                        <a:t>Choice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321">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Server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Node 18+, Express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Realtime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gtfs-realtime-bindings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Frontend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Plain JS modules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Map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Leaflet + OpenStreetMap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Accounts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1316"/>
                          </a:solidFill>
                          <a:latin typeface="Public Sans" pitchFamily="34" charset="0"/>
                          <a:ea typeface="Public Sans" pitchFamily="34" charset="-122"/>
                          <a:cs typeface="Public Sans" pitchFamily="34" charset="-120"/>
                        </a:rPr>
                        <a:t>Firebase Auth, Firestore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6175375" y="2197199"/>
            <a:ext cx="5200650" cy="3084264"/>
          </a:xfrm>
          <a:prstGeom prst="roundRect">
            <a:avLst>
              <a:gd name="adj" fmla="val 3191"/>
            </a:avLst>
          </a:prstGeom>
          <a:solidFill>
            <a:srgbClr val="FFFFFF"/>
          </a:solidFill>
          <a:ln w="6350">
            <a:solidFill>
              <a:srgbClr val="CFD3CE"/>
            </a:solidFill>
            <a:prstDash val="solid"/>
          </a:ln>
        </p:spPr>
      </p:sp>
      <p:sp>
        <p:nvSpPr>
          <p:cNvPr id="8" name="Text 5"/>
          <p:cNvSpPr/>
          <p:nvPr/>
        </p:nvSpPr>
        <p:spPr>
          <a:xfrm>
            <a:off x="6432550" y="2454374"/>
            <a:ext cx="482688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316"/>
                </a:solidFill>
                <a:latin typeface="Archivo" pitchFamily="34" charset="0"/>
                <a:ea typeface="Archivo" pitchFamily="34" charset="-122"/>
                <a:cs typeface="Archivo" pitchFamily="34" charset="-120"/>
              </a:rPr>
              <a:t>Quality</a:t>
            </a:r>
            <a:endParaRPr lang="en-US" sz="1800" dirty="0"/>
          </a:p>
        </p:txBody>
      </p:sp>
      <p:sp>
        <p:nvSpPr>
          <p:cNvPr id="9" name="Text 6"/>
          <p:cNvSpPr/>
          <p:nvPr/>
        </p:nvSpPr>
        <p:spPr>
          <a:xfrm>
            <a:off x="6517132" y="2855664"/>
            <a:ext cx="4734687" cy="1572022"/>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6 unit tests on the feed parsers, all passing</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Falls back to labelled sample data if the MTA is unreachable</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Input validation on every API route</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Works at phone width, light and dark mode</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Single-file offline demo built from the same code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F4FB8"/>
                </a:solidFill>
                <a:latin typeface="JetBrains Mono" pitchFamily="49" charset="0"/>
                <a:ea typeface="JetBrains Mono" pitchFamily="49" charset="-122"/>
                <a:cs typeface="JetBrains Mono" pitchFamily="49" charset="-120"/>
              </a:rPr>
              <a:t>ROADMAP</a:t>
            </a:r>
            <a:endParaRPr lang="en-US" sz="1300" dirty="0"/>
          </a:p>
        </p:txBody>
      </p:sp>
      <p:sp>
        <p:nvSpPr>
          <p:cNvPr id="3" name="Text 1"/>
          <p:cNvSpPr/>
          <p:nvPr>
            <p:ph type="title"/>
          </p:nvPr>
        </p:nvSpPr>
        <p:spPr>
          <a:xfrm>
            <a:off x="812800" y="139953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21316"/>
                </a:solidFill>
                <a:latin typeface="Archivo" pitchFamily="34" charset="0"/>
                <a:ea typeface="Archivo" pitchFamily="34" charset="-122"/>
                <a:cs typeface="Archivo" pitchFamily="34" charset="-120"/>
              </a:rPr>
              <a:t>From prototype to public launch</a:t>
            </a:r>
            <a:endParaRPr lang="en-US" sz="3600" dirty="0"/>
          </a:p>
        </p:txBody>
      </p:sp>
      <p:sp>
        <p:nvSpPr>
          <p:cNvPr id="4" name="Shape 2"/>
          <p:cNvSpPr/>
          <p:nvPr/>
        </p:nvSpPr>
        <p:spPr>
          <a:xfrm>
            <a:off x="815975" y="2238325"/>
            <a:ext cx="3414167" cy="1951831"/>
          </a:xfrm>
          <a:prstGeom prst="roundRect">
            <a:avLst>
              <a:gd name="adj" fmla="val 5043"/>
            </a:avLst>
          </a:prstGeom>
          <a:solidFill>
            <a:srgbClr val="FFFFFF"/>
          </a:solidFill>
          <a:ln w="6350">
            <a:solidFill>
              <a:srgbClr val="D9DCD8"/>
            </a:solidFill>
            <a:prstDash val="solid"/>
          </a:ln>
        </p:spPr>
      </p:sp>
      <p:sp>
        <p:nvSpPr>
          <p:cNvPr id="5" name="Text 3"/>
          <p:cNvSpPr/>
          <p:nvPr/>
        </p:nvSpPr>
        <p:spPr>
          <a:xfrm>
            <a:off x="1073150" y="2495500"/>
            <a:ext cx="29868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316"/>
                </a:solidFill>
                <a:latin typeface="Archivo" pitchFamily="34" charset="0"/>
                <a:ea typeface="Archivo" pitchFamily="34" charset="-122"/>
                <a:cs typeface="Archivo" pitchFamily="34" charset="-120"/>
              </a:rPr>
              <a:t>Now</a:t>
            </a:r>
            <a:endParaRPr lang="en-US" sz="2000" dirty="0"/>
          </a:p>
        </p:txBody>
      </p:sp>
      <p:sp>
        <p:nvSpPr>
          <p:cNvPr id="6" name="Text 4"/>
          <p:cNvSpPr/>
          <p:nvPr/>
        </p:nvSpPr>
        <p:spPr>
          <a:xfrm>
            <a:off x="1157732" y="2901900"/>
            <a:ext cx="2894609" cy="1056481"/>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Deploy with live feeds</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Full station list from static GTFS</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Connect a Firebase project</a:t>
            </a:r>
            <a:endParaRPr lang="en-US" sz="1400" dirty="0"/>
          </a:p>
        </p:txBody>
      </p:sp>
      <p:sp>
        <p:nvSpPr>
          <p:cNvPr id="7" name="Shape 5"/>
          <p:cNvSpPr/>
          <p:nvPr/>
        </p:nvSpPr>
        <p:spPr>
          <a:xfrm>
            <a:off x="4388892" y="2238325"/>
            <a:ext cx="3414167" cy="1951831"/>
          </a:xfrm>
          <a:prstGeom prst="roundRect">
            <a:avLst>
              <a:gd name="adj" fmla="val 5043"/>
            </a:avLst>
          </a:prstGeom>
          <a:solidFill>
            <a:srgbClr val="FFFFFF"/>
          </a:solidFill>
          <a:ln w="6350">
            <a:solidFill>
              <a:srgbClr val="D9DCD8"/>
            </a:solidFill>
            <a:prstDash val="solid"/>
          </a:ln>
        </p:spPr>
      </p:sp>
      <p:sp>
        <p:nvSpPr>
          <p:cNvPr id="8" name="Text 6"/>
          <p:cNvSpPr/>
          <p:nvPr/>
        </p:nvSpPr>
        <p:spPr>
          <a:xfrm>
            <a:off x="4646067" y="2495500"/>
            <a:ext cx="29868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316"/>
                </a:solidFill>
                <a:latin typeface="Archivo" pitchFamily="34" charset="0"/>
                <a:ea typeface="Archivo" pitchFamily="34" charset="-122"/>
                <a:cs typeface="Archivo" pitchFamily="34" charset="-120"/>
              </a:rPr>
              <a:t>Next</a:t>
            </a:r>
            <a:endParaRPr lang="en-US" sz="2000" dirty="0"/>
          </a:p>
        </p:txBody>
      </p:sp>
      <p:sp>
        <p:nvSpPr>
          <p:cNvPr id="9" name="Text 7"/>
          <p:cNvSpPr/>
          <p:nvPr/>
        </p:nvSpPr>
        <p:spPr>
          <a:xfrm>
            <a:off x="4730649" y="2901900"/>
            <a:ext cx="2894609" cy="1056481"/>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Push alerts with the app closed (FCM)</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Live bus positions on the map</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Real track shapes from GTFS</a:t>
            </a:r>
            <a:endParaRPr lang="en-US" sz="1400" dirty="0"/>
          </a:p>
        </p:txBody>
      </p:sp>
      <p:sp>
        <p:nvSpPr>
          <p:cNvPr id="10" name="Shape 8"/>
          <p:cNvSpPr/>
          <p:nvPr/>
        </p:nvSpPr>
        <p:spPr>
          <a:xfrm>
            <a:off x="7961809" y="2238325"/>
            <a:ext cx="3414216" cy="1951831"/>
          </a:xfrm>
          <a:prstGeom prst="roundRect">
            <a:avLst>
              <a:gd name="adj" fmla="val 5043"/>
            </a:avLst>
          </a:prstGeom>
          <a:solidFill>
            <a:srgbClr val="FFFFFF"/>
          </a:solidFill>
          <a:ln w="6350">
            <a:solidFill>
              <a:srgbClr val="D9DCD8"/>
            </a:solidFill>
            <a:prstDash val="solid"/>
          </a:ln>
        </p:spPr>
      </p:sp>
      <p:sp>
        <p:nvSpPr>
          <p:cNvPr id="11" name="Text 9"/>
          <p:cNvSpPr/>
          <p:nvPr/>
        </p:nvSpPr>
        <p:spPr>
          <a:xfrm>
            <a:off x="8218984" y="2495500"/>
            <a:ext cx="29868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316"/>
                </a:solidFill>
                <a:latin typeface="Archivo" pitchFamily="34" charset="0"/>
                <a:ea typeface="Archivo" pitchFamily="34" charset="-122"/>
                <a:cs typeface="Archivo" pitchFamily="34" charset="-120"/>
              </a:rPr>
              <a:t>Later</a:t>
            </a:r>
            <a:endParaRPr lang="en-US" sz="2000" dirty="0"/>
          </a:p>
        </p:txBody>
      </p:sp>
      <p:sp>
        <p:nvSpPr>
          <p:cNvPr id="12" name="Text 10"/>
          <p:cNvSpPr/>
          <p:nvPr/>
        </p:nvSpPr>
        <p:spPr>
          <a:xfrm>
            <a:off x="8303566" y="2901900"/>
            <a:ext cx="2894660" cy="798711"/>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Step-free trip planner</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LIRR and Metro-North</a:t>
            </a:r>
            <a:endParaRPr lang="en-US" sz="1400" dirty="0"/>
          </a:p>
          <a:p>
            <a:pPr algn="l" marL="169418" indent="-169418">
              <a:lnSpc>
                <a:spcPts val="2030"/>
              </a:lnSpc>
              <a:buSzPct val="100000"/>
              <a:buChar char="•"/>
            </a:pPr>
            <a:r>
              <a:rPr lang="en-US" sz="1400" dirty="0">
                <a:solidFill>
                  <a:srgbClr val="4A4F57"/>
                </a:solidFill>
                <a:latin typeface="Public Sans" pitchFamily="34" charset="0"/>
                <a:ea typeface="Public Sans" pitchFamily="34" charset="-122"/>
                <a:cs typeface="Public Sans" pitchFamily="34" charset="-120"/>
              </a:rPr>
              <a:t>Installable PWA, offline cache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316"/>
        </a:solidFill>
      </p:bgPr>
    </p:bg>
    <p:spTree>
      <p:nvGrpSpPr>
        <p:cNvPr id="1" name=""/>
        <p:cNvGrpSpPr/>
        <p:nvPr/>
      </p:nvGrpSpPr>
      <p:grpSpPr>
        <a:xfrm>
          <a:off x="0" y="0"/>
          <a:ext cx="0" cy="0"/>
          <a:chOff x="0" y="0"/>
          <a:chExt cx="0" cy="0"/>
        </a:xfrm>
      </p:grpSpPr>
      <p:sp>
        <p:nvSpPr>
          <p:cNvPr id="2" name="Shape 0"/>
          <p:cNvSpPr/>
          <p:nvPr/>
        </p:nvSpPr>
        <p:spPr>
          <a:xfrm>
            <a:off x="0" y="6756400"/>
            <a:ext cx="1354634" cy="101600"/>
          </a:xfrm>
          <a:prstGeom prst="rect">
            <a:avLst/>
          </a:prstGeom>
          <a:solidFill>
            <a:srgbClr val="EE352E"/>
          </a:solidFill>
          <a:ln/>
        </p:spPr>
      </p:sp>
      <p:sp>
        <p:nvSpPr>
          <p:cNvPr id="3" name="Shape 1"/>
          <p:cNvSpPr/>
          <p:nvPr/>
        </p:nvSpPr>
        <p:spPr>
          <a:xfrm>
            <a:off x="1354634" y="6756400"/>
            <a:ext cx="1354683" cy="101600"/>
          </a:xfrm>
          <a:prstGeom prst="rect">
            <a:avLst/>
          </a:prstGeom>
          <a:solidFill>
            <a:srgbClr val="00933C"/>
          </a:solidFill>
          <a:ln/>
        </p:spPr>
      </p:sp>
      <p:sp>
        <p:nvSpPr>
          <p:cNvPr id="4" name="Shape 2"/>
          <p:cNvSpPr/>
          <p:nvPr/>
        </p:nvSpPr>
        <p:spPr>
          <a:xfrm>
            <a:off x="2709317" y="6756400"/>
            <a:ext cx="1354634" cy="101600"/>
          </a:xfrm>
          <a:prstGeom prst="rect">
            <a:avLst/>
          </a:prstGeom>
          <a:solidFill>
            <a:srgbClr val="B933AD"/>
          </a:solidFill>
          <a:ln/>
        </p:spPr>
      </p:sp>
      <p:sp>
        <p:nvSpPr>
          <p:cNvPr id="5" name="Shape 3"/>
          <p:cNvSpPr/>
          <p:nvPr/>
        </p:nvSpPr>
        <p:spPr>
          <a:xfrm>
            <a:off x="4063950" y="6756400"/>
            <a:ext cx="1354683" cy="101600"/>
          </a:xfrm>
          <a:prstGeom prst="rect">
            <a:avLst/>
          </a:prstGeom>
          <a:solidFill>
            <a:srgbClr val="0039A6"/>
          </a:solidFill>
          <a:ln/>
        </p:spPr>
      </p:sp>
      <p:sp>
        <p:nvSpPr>
          <p:cNvPr id="6" name="Shape 4"/>
          <p:cNvSpPr/>
          <p:nvPr/>
        </p:nvSpPr>
        <p:spPr>
          <a:xfrm>
            <a:off x="5418634" y="6756400"/>
            <a:ext cx="1354634" cy="101600"/>
          </a:xfrm>
          <a:prstGeom prst="rect">
            <a:avLst/>
          </a:prstGeom>
          <a:solidFill>
            <a:srgbClr val="FF6319"/>
          </a:solidFill>
          <a:ln/>
        </p:spPr>
      </p:sp>
      <p:sp>
        <p:nvSpPr>
          <p:cNvPr id="7" name="Shape 5"/>
          <p:cNvSpPr/>
          <p:nvPr/>
        </p:nvSpPr>
        <p:spPr>
          <a:xfrm>
            <a:off x="6773267" y="6756400"/>
            <a:ext cx="1354683" cy="101600"/>
          </a:xfrm>
          <a:prstGeom prst="rect">
            <a:avLst/>
          </a:prstGeom>
          <a:solidFill>
            <a:srgbClr val="6CBE45"/>
          </a:solidFill>
          <a:ln/>
        </p:spPr>
      </p:sp>
      <p:sp>
        <p:nvSpPr>
          <p:cNvPr id="8" name="Shape 6"/>
          <p:cNvSpPr/>
          <p:nvPr/>
        </p:nvSpPr>
        <p:spPr>
          <a:xfrm>
            <a:off x="8127950" y="6756400"/>
            <a:ext cx="1354683" cy="101600"/>
          </a:xfrm>
          <a:prstGeom prst="rect">
            <a:avLst/>
          </a:prstGeom>
          <a:solidFill>
            <a:srgbClr val="996633"/>
          </a:solidFill>
          <a:ln/>
        </p:spPr>
      </p:sp>
      <p:sp>
        <p:nvSpPr>
          <p:cNvPr id="9" name="Shape 7"/>
          <p:cNvSpPr/>
          <p:nvPr/>
        </p:nvSpPr>
        <p:spPr>
          <a:xfrm>
            <a:off x="9482634" y="6756400"/>
            <a:ext cx="1354683" cy="101600"/>
          </a:xfrm>
          <a:prstGeom prst="rect">
            <a:avLst/>
          </a:prstGeom>
          <a:solidFill>
            <a:srgbClr val="A7A9AC"/>
          </a:solidFill>
          <a:ln/>
        </p:spPr>
      </p:sp>
      <p:sp>
        <p:nvSpPr>
          <p:cNvPr id="10" name="Shape 8"/>
          <p:cNvSpPr/>
          <p:nvPr/>
        </p:nvSpPr>
        <p:spPr>
          <a:xfrm>
            <a:off x="10837317" y="6756400"/>
            <a:ext cx="1354683" cy="101600"/>
          </a:xfrm>
          <a:prstGeom prst="rect">
            <a:avLst/>
          </a:prstGeom>
          <a:solidFill>
            <a:srgbClr val="FCCC0A"/>
          </a:solidFill>
          <a:ln/>
        </p:spPr>
      </p:sp>
      <p:sp>
        <p:nvSpPr>
          <p:cNvPr id="11" name="Text 9"/>
          <p:cNvSpPr/>
          <p:nvPr>
            <p:ph type="title"/>
          </p:nvPr>
        </p:nvSpPr>
        <p:spPr>
          <a:xfrm>
            <a:off x="812800" y="169039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spc="-150" kern="0" dirty="0">
                <a:solidFill>
                  <a:srgbClr val="F2F3F0"/>
                </a:solidFill>
                <a:latin typeface="Archivo" pitchFamily="34" charset="0"/>
                <a:ea typeface="Archivo" pitchFamily="34" charset="-122"/>
                <a:cs typeface="Archivo" pitchFamily="34" charset="-120"/>
              </a:rPr>
              <a:t>Run it in three commands</a:t>
            </a:r>
            <a:endParaRPr lang="en-US" sz="6000" dirty="0"/>
          </a:p>
        </p:txBody>
      </p:sp>
      <p:sp>
        <p:nvSpPr>
          <p:cNvPr id="12" name="Shape 10"/>
          <p:cNvSpPr/>
          <p:nvPr/>
        </p:nvSpPr>
        <p:spPr>
          <a:xfrm>
            <a:off x="815975" y="2760365"/>
            <a:ext cx="6978650" cy="1779240"/>
          </a:xfrm>
          <a:prstGeom prst="roundRect">
            <a:avLst>
              <a:gd name="adj" fmla="val 5532"/>
            </a:avLst>
          </a:prstGeom>
          <a:solidFill>
            <a:srgbClr val="1E2024"/>
          </a:solidFill>
          <a:ln w="6350">
            <a:solidFill>
              <a:srgbClr val="33363C"/>
            </a:solidFill>
            <a:prstDash val="solid"/>
          </a:ln>
        </p:spPr>
      </p:sp>
      <p:sp>
        <p:nvSpPr>
          <p:cNvPr id="13" name="Text 11"/>
          <p:cNvSpPr/>
          <p:nvPr/>
        </p:nvSpPr>
        <p:spPr>
          <a:xfrm>
            <a:off x="1123950" y="3068340"/>
            <a:ext cx="6553581"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2F3F0"/>
                </a:solidFill>
                <a:latin typeface="JetBrains Mono" pitchFamily="49" charset="0"/>
                <a:ea typeface="JetBrains Mono" pitchFamily="49" charset="-122"/>
                <a:cs typeface="JetBrains Mono" pitchFamily="49" charset="-120"/>
              </a:rPr>
              <a:t>npm install</a:t>
            </a:r>
            <a:endParaRPr lang="en-US" sz="1800" dirty="0"/>
          </a:p>
        </p:txBody>
      </p:sp>
      <p:sp>
        <p:nvSpPr>
          <p:cNvPr id="14" name="Text 12"/>
          <p:cNvSpPr/>
          <p:nvPr/>
        </p:nvSpPr>
        <p:spPr>
          <a:xfrm>
            <a:off x="1123950" y="3489970"/>
            <a:ext cx="6553581"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2F3F0"/>
                </a:solidFill>
                <a:latin typeface="JetBrains Mono" pitchFamily="49" charset="0"/>
                <a:ea typeface="JetBrains Mono" pitchFamily="49" charset="-122"/>
                <a:cs typeface="JetBrains Mono" pitchFamily="49" charset="-120"/>
              </a:rPr>
              <a:t>npm run build:stations</a:t>
            </a:r>
            <a:endParaRPr lang="en-US" sz="1800" dirty="0"/>
          </a:p>
        </p:txBody>
      </p:sp>
      <p:sp>
        <p:nvSpPr>
          <p:cNvPr id="15" name="Text 13"/>
          <p:cNvSpPr/>
          <p:nvPr/>
        </p:nvSpPr>
        <p:spPr>
          <a:xfrm>
            <a:off x="1123950" y="3911600"/>
            <a:ext cx="6553581"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2F3F0"/>
                </a:solidFill>
                <a:latin typeface="JetBrains Mono" pitchFamily="49" charset="0"/>
                <a:ea typeface="JetBrains Mono" pitchFamily="49" charset="-122"/>
                <a:cs typeface="JetBrains Mono" pitchFamily="49" charset="-120"/>
              </a:rPr>
              <a:t>npm start </a:t>
            </a:r>
            <a:r>
              <a:rPr lang="en-US" sz="1800" dirty="0">
                <a:solidFill>
                  <a:srgbClr val="8C929B"/>
                </a:solidFill>
                <a:latin typeface="JetBrains Mono" pitchFamily="49" charset="0"/>
                <a:ea typeface="JetBrains Mono" pitchFamily="49" charset="-122"/>
                <a:cs typeface="JetBrains Mono" pitchFamily="49" charset="-120"/>
              </a:rPr>
              <a:t>→ localhost:3000</a:t>
            </a:r>
            <a:endParaRPr lang="en-US" sz="1800" dirty="0"/>
          </a:p>
        </p:txBody>
      </p:sp>
      <p:sp>
        <p:nvSpPr>
          <p:cNvPr id="16" name="Text 14"/>
          <p:cNvSpPr/>
          <p:nvPr/>
        </p:nvSpPr>
        <p:spPr>
          <a:xfrm>
            <a:off x="812800" y="4847580"/>
            <a:ext cx="85026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DD3"/>
                </a:solidFill>
                <a:latin typeface="Public Sans" pitchFamily="34" charset="0"/>
                <a:ea typeface="Public Sans" pitchFamily="34" charset="-122"/>
                <a:cs typeface="Public Sans" pitchFamily="34" charset="-120"/>
              </a:rPr>
              <a:t>Or open the offline demo: the same app on sample data, no install needed.</a:t>
            </a:r>
            <a:endParaRPr lang="en-US" sz="1800" dirty="0"/>
          </a:p>
        </p:txBody>
      </p:sp>
    </p:spTree>
  </p:cSld>
  <p:clrMapOvr>
    <a:masterClrMapping/>
  </p:clrMapOvr>
</p:sld>
</file>

<file path=ppt/theme/theme1.xml><?xml version="1.0" encoding="utf-8"?>
<a:theme xmlns:a="http://schemas.openxmlformats.org/drawingml/2006/main" name="NYC Transit Hub">
  <a:themeElements>
    <a:clrScheme name="NYC Transit Hub">
      <a:dk1>
        <a:srgbClr val="121316"/>
      </a:dk1>
      <a:lt1>
        <a:srgbClr val="F2F3F0"/>
      </a:lt1>
      <a:dk2>
        <a:srgbClr val="4A4B4D"/>
      </a:dk2>
      <a:lt2>
        <a:srgbClr val="DCDDDA"/>
      </a:lt2>
      <a:accent1>
        <a:srgbClr val="1F4FB8"/>
      </a:accent1>
      <a:accent2>
        <a:srgbClr val="EE352E"/>
      </a:accent2>
      <a:accent3>
        <a:srgbClr val="00933C"/>
      </a:accent3>
      <a:accent4>
        <a:srgbClr val="B933AD"/>
      </a:accent4>
      <a:accent5>
        <a:srgbClr val="FF6319"/>
      </a:accent5>
      <a:accent6>
        <a:srgbClr val="0039A6"/>
      </a:accent6>
      <a:hlink>
        <a:srgbClr val="0563C1"/>
      </a:hlink>
      <a:folHlink>
        <a:srgbClr val="954F72"/>
      </a:folHlink>
    </a:clrScheme>
    <a:fontScheme name="NYC Transit Hub">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Transit Hub</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2026-10-27T16:43:34Z</dcterms:created>
  <dcterms:modified xsi:type="dcterms:W3CDTF">2026-10-27T16:43:34Z</dcterms:modified>
</cp:coreProperties>
</file>